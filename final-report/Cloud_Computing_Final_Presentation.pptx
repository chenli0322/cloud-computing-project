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I'm Chen Li, presenting solo for both Part 1 and Part 2 of the cloud computing project. The plan: roughly 20 minutes on Part 1 (the ArchNav legacy migration) and 25 minutes on Part 2 (the decentralized health monitoring system). At the end I'll demo the live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is a classic cloud-based migration: the goal is to take an existing Java application that nobody is willing to rewrite, and put it in the cloud without touching the source. We containerise the dependencies, deploy with Docker Compose, and run on AWS EC2. The whole thing rebuilds in about 30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is small but its dependency surface is brittle: JDK 7 specifically, JDeveloper 11.1.2.4 specifically, Glassfish 3.1.2 specifically. Real-world legacy apps often look like this — they cannot move forward in version because nobody has budget to test the upgrade. That's exactly the situation cloud-based migration is designed for.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stacks. Security on the left — Apache Fortress for RBAC, ApacheDS as the LDAP backend, Tomcat hosting the Fortress REST and Web. Business on the right — Glassfish 3.1.2 hosting the ADF application, MySQL 5.7 holding the data. The two stacks talk through Fortress ELResolver calls embedded in the ADF web pages.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of the 5 components becomes a container. The 4 containers communicate over a Docker bridge network using service names as hostnames — so the Fortress configs that used to point at "localhost" now point at "apacheds", "mysql", etc. That hostname change is one of the most common pitfalls in cloud-based migration.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cloud target is AWS EC2. t2.small was actually a tight fit but it works for the demo. The whole bring-up — SSH to the box, install Docker, SCP the docker directory, run docker compose up — is wrapped in a deploy.sh script so the evaluation rebuild on April 29 is a single command.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interesting bit of Part 1 was the debug story. JDK 7 RPMs ship .pack files instead of .jars; Glassfish ships SSL certs that expired in 2022; the Fortress LDAP config exists in four different nested archives that all need to be patched. Each of these is the kind of thing that takes one engineer one afternoon and is invisible in the final running 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deliverable is exactly the goal of cloud-based migration: same code, different deployment surface. The benefit isn't performance or feature — it's that an 8-hour 17-step Windows install becomes a 6-minute one-line command, on disposable hardware, reproducibly.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demo I'll log in as both an Admin and a NormalUser to show that Fortress RBAC is actually enforcing distinct views. I'll also show the Fortress Web admin console where the role/permission model is visible. Then I'll switch over to Part 2.</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is the innovative system. The headline is: a fully decentralised health-monitoring pipeline running across three real cloud platforms, broker-less, with cryptographic auditability between the off-chain raw record and the on-chain hash. I'll walk through the architecture, show the live numbers from yesterday's rehearsal, and finish with the concrete audit-chain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motivation: today's healthcare IoT platforms are single-tenant and single-trust. We want auditability — a verifier should be able to prove a record hasn't been tampered with without trusting the operator. That's exactly what a public chain anchor gives you. The five goals on the slide are what the rest of this part will demonstrate.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has five roles communicating over a broker-less P2P mesh. The IoT node mirrors every reading to Azure IoT Hub. The ML node downloads its model from AWS S3. The BC node, before submitting to Sepolia, archives the raw anomaly JSON to S3. The dashboard fuses everything for the browser. Three clouds, three roles for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disclosure: I said BTP at the midterm. After investigation, both BTP and py-libp2p were not production-ready in the project timeline. So I built an equivalent broker-less overlay with the same properties. This is in section 3.6 of the report. The substitution is for upstream-library reasons, not because we reduced scope.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IoT layer publishes to two destinations: the internal P2P mesh, and Azure IoT Hub. The Azure path satisfies the IoT-PaaS requirement. We use the free tier F1 — 8000 messages a day, no charge — and during yesterday's rehearsal we published 310 messages with no failures.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ML is an Isolation Forest — unsupervised, fast, no tuning. On the held-out test set we get 99% accuracy with 98% anomaly recall. The trained joblib artefact lives in S3, and the ML node downloads it at startup via boto3. This makes the model "on cloud" — training can happen anywhere, but the consumed artefact is always pulled from S3.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contract is deliberately small. An append-only entries array, a hash → index mapping for duplicate rejection, and a single mutating function. The whole contract is 67 lines including comments. This is what gets deployed on Sepolia at the address shown.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midterm I proposed Ganache, which is a local Ethereum simulator. After Session 9 on April 16, the instructor said go for a real public chain. So I switched to Sepolia, which means real transactions, real gas, real block times, real Etherscan links. This is documented in §3.5 and §6.7 of the report. It's the second of two material differences from the midterm proposal — both upgrades.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BC node is the engineering-heavy bit because it sits at the Web2-to-Web3 boundary. The order matters: archive to S3 first, then anchor on chain. If the order were reversed and the chain commit succeeded but the S3 archive failed, you'd have an immutable hash with no way to dereference. The other interesting bits are the NonceManager — which I'll discuss on the next slide — and the explicit status==1 check that prevents reverted transactions from being reported as successful records.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bugs that surface only when running against a real public chain. Nonce collision under concurrent submission, out-of-gas because the gas limit was too tight, and reverted-tx-shown-as-success because we trusted the receipt without checking status. Each diagnosed and fixed during the integration session and documented in §6 of the report.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Yesterday's rehearsal numbers. 310 Azure messages, 29 S3 archives, 18 confirmed Sepolia transactions. Everything paid for in free tier or Sepolia testnet ETH. End-to-end latency from sensor reading to clickable Etherscan link is about 12 seconds, almost entirely dominated by the Sepolia block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proves the architecture actually delivers what the report claims. Take any on-chain entry, fetch the corresponding S3 object, recompute the hash, and verify it matches. I ran this live against transaction 0xe1ebf113 from yesterday's rehearsal — the recomputed hash matches the on-chain hash exactly. If any byte of the S3 record had been altered, the hashes would diverge and the falsification would be detectable. This is the concrete form of the tamper-evident guarantee.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midterm the only specific concern raised was: is the bootstrap a single point of failure? The answer, as delivered, is no — and there are three reasons. First, the bootstrap is off the data path; second, any peer can serve discovery; third, multiple bootstraps can coexist. The other midterm-vs-delivered deltas are listed at the bottom — every one is either an upgrade in response to instructor guidance or an explicit disclosure for upstream-library reasons. There's no scope reduction.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Part 1 delivered cloud-based migration with zero code changes. Part 2 delivered a working decentralized health monitor with three active clouds, real evidence numbers, and a cryptographic audit-chain. Every midterm deviation is disclosed. Open to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194560"/>
            <a:ext cx="10972800" cy="822960"/>
          </a:xfrm>
          <a:prstGeom prst="rect">
            <a:avLst/>
          </a:prstGeom>
          <a:noFill/>
        </p:spPr>
        <p:txBody>
          <a:bodyPr wrap="square">
            <a:spAutoFit/>
          </a:bodyPr>
          <a:lstStyle/>
          <a:p>
            <a:r>
              <a:rPr sz="4000" b="1">
                <a:solidFill>
                  <a:srgbClr val="E6EAF2"/>
                </a:solidFill>
              </a:rPr>
              <a:t>Cloud Computing — Spring 2026 Final Project</a:t>
            </a:r>
          </a:p>
        </p:txBody>
      </p:sp>
      <p:sp>
        <p:nvSpPr>
          <p:cNvPr id="4" name="TextBox 3"/>
          <p:cNvSpPr txBox="1"/>
          <p:nvPr/>
        </p:nvSpPr>
        <p:spPr>
          <a:xfrm>
            <a:off x="548640" y="3108960"/>
            <a:ext cx="10972800" cy="457200"/>
          </a:xfrm>
          <a:prstGeom prst="rect">
            <a:avLst/>
          </a:prstGeom>
          <a:noFill/>
        </p:spPr>
        <p:txBody>
          <a:bodyPr wrap="none">
            <a:spAutoFit/>
          </a:bodyPr>
          <a:lstStyle/>
          <a:p>
            <a:r>
              <a:rPr sz="2000" i="1">
                <a:solidFill>
                  <a:srgbClr val="6AA6FF"/>
                </a:solidFill>
              </a:rPr>
              <a:t>Part 1: ArchNav Legacy Migration via Docker on AWS EC2</a:t>
            </a:r>
          </a:p>
        </p:txBody>
      </p:sp>
      <p:sp>
        <p:nvSpPr>
          <p:cNvPr id="5" name="TextBox 4"/>
          <p:cNvSpPr txBox="1"/>
          <p:nvPr/>
        </p:nvSpPr>
        <p:spPr>
          <a:xfrm>
            <a:off x="548640" y="3520440"/>
            <a:ext cx="10972800" cy="457200"/>
          </a:xfrm>
          <a:prstGeom prst="rect">
            <a:avLst/>
          </a:prstGeom>
          <a:noFill/>
        </p:spPr>
        <p:txBody>
          <a:bodyPr wrap="none">
            <a:spAutoFit/>
          </a:bodyPr>
          <a:lstStyle/>
          <a:p>
            <a:r>
              <a:rPr sz="2000" i="1">
                <a:solidFill>
                  <a:srgbClr val="6AA6FF"/>
                </a:solidFill>
              </a:rPr>
              <a:t>Part 2: Decentralized Health Monitoring System (P2P + IoT + ML + Blockchain)</a:t>
            </a:r>
          </a:p>
        </p:txBody>
      </p:sp>
      <p:sp>
        <p:nvSpPr>
          <p:cNvPr id="6" name="TextBox 5"/>
          <p:cNvSpPr txBox="1"/>
          <p:nvPr/>
        </p:nvSpPr>
        <p:spPr>
          <a:xfrm>
            <a:off x="548640" y="5029200"/>
            <a:ext cx="10972800" cy="1371600"/>
          </a:xfrm>
          <a:prstGeom prst="rect">
            <a:avLst/>
          </a:prstGeom>
          <a:noFill/>
        </p:spPr>
        <p:txBody>
          <a:bodyPr wrap="none">
            <a:spAutoFit/>
          </a:bodyPr>
          <a:lstStyle/>
          <a:p>
            <a:r>
              <a:rPr sz="1800">
                <a:solidFill>
                  <a:srgbClr val="E6EAF2"/>
                </a:solidFill>
              </a:rPr>
              <a:t>Chen Li (NetID: cl5725) — solo team</a:t>
            </a:r>
          </a:p>
          <a:p>
            <a:r>
              <a:rPr sz="1600">
                <a:solidFill>
                  <a:srgbClr val="8B95AB"/>
                </a:solidFill>
              </a:rPr>
              <a:t>Special CS Topic — Cloud Computing, Section 026</a:t>
            </a:r>
          </a:p>
          <a:p>
            <a:r>
              <a:rPr sz="1600">
                <a:solidFill>
                  <a:srgbClr val="8B95AB"/>
                </a:solidFill>
              </a:rPr>
              <a:t>Prof. Jean-Claude Franchitti — NYU Tandon</a:t>
            </a:r>
          </a:p>
          <a:p>
            <a:r>
              <a:rPr sz="1400">
                <a:solidFill>
                  <a:srgbClr val="8B95AB"/>
                </a:solidFill>
              </a:rPr>
              <a:t>April 30,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Part 1 — Legacy Cloud Migration</a:t>
            </a:r>
          </a:p>
        </p:txBody>
      </p:sp>
      <p:sp>
        <p:nvSpPr>
          <p:cNvPr id="4" name="TextBox 3"/>
          <p:cNvSpPr txBox="1"/>
          <p:nvPr/>
        </p:nvSpPr>
        <p:spPr>
          <a:xfrm>
            <a:off x="548640" y="1005840"/>
            <a:ext cx="10972800" cy="457200"/>
          </a:xfrm>
          <a:prstGeom prst="rect">
            <a:avLst/>
          </a:prstGeom>
          <a:noFill/>
        </p:spPr>
        <p:txBody>
          <a:bodyPr wrap="none">
            <a:spAutoFit/>
          </a:bodyPr>
          <a:lstStyle/>
          <a:p>
            <a:r>
              <a:rPr sz="1800" i="1">
                <a:solidFill>
                  <a:srgbClr val="8B95AB"/>
                </a:solidFill>
              </a:rPr>
              <a:t>ArchNav (Oracle ADF + Fortress) → Docker → AWS EC2</a:t>
            </a:r>
          </a:p>
        </p:txBody>
      </p:sp>
      <p:sp>
        <p:nvSpPr>
          <p:cNvPr id="5" name="Rectangle 4"/>
          <p:cNvSpPr/>
          <p:nvPr/>
        </p:nvSpPr>
        <p:spPr>
          <a:xfrm>
            <a:off x="548640" y="14173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72800" cy="5029200"/>
          </a:xfrm>
          <a:prstGeom prst="rect">
            <a:avLst/>
          </a:prstGeom>
          <a:noFill/>
        </p:spPr>
        <p:txBody>
          <a:bodyPr wrap="square">
            <a:spAutoFit/>
          </a:bodyPr>
          <a:lstStyle/>
          <a:p>
            <a:pPr>
              <a:spcAft>
                <a:spcPts val="800"/>
              </a:spcAft>
            </a:pPr>
            <a:r>
              <a:rPr sz="1800">
                <a:solidFill>
                  <a:srgbClr val="E6EAF2"/>
                </a:solidFill>
              </a:rPr>
              <a:t>•  Cloud-based migration: zero source-code changes</a:t>
            </a:r>
          </a:p>
          <a:p>
            <a:pPr>
              <a:spcAft>
                <a:spcPts val="800"/>
              </a:spcAft>
            </a:pPr>
            <a:r>
              <a:rPr sz="1800">
                <a:solidFill>
                  <a:srgbClr val="E6EAF2"/>
                </a:solidFill>
              </a:rPr>
              <a:t>•  5-component Java legacy stack containerised into 4 Docker services</a:t>
            </a:r>
          </a:p>
          <a:p>
            <a:pPr>
              <a:spcAft>
                <a:spcPts val="800"/>
              </a:spcAft>
            </a:pPr>
            <a:r>
              <a:rPr sz="1800">
                <a:solidFill>
                  <a:srgbClr val="E6EAF2"/>
                </a:solidFill>
              </a:rPr>
              <a:t>•  Deployed on AWS EC2 (us-east-1, Ubuntu 24.04), accessible at public IP</a:t>
            </a:r>
          </a:p>
          <a:p>
            <a:pPr>
              <a:spcAft>
                <a:spcPts val="800"/>
              </a:spcAft>
            </a:pPr>
            <a:r>
              <a:rPr sz="1800">
                <a:solidFill>
                  <a:srgbClr val="E6EAF2"/>
                </a:solidFill>
              </a:rPr>
              <a:t>•  All services running on a single bridge network (`archnav-net`)</a:t>
            </a:r>
          </a:p>
          <a:p>
            <a:pPr>
              <a:spcAft>
                <a:spcPts val="800"/>
              </a:spcAft>
            </a:pPr>
            <a:r>
              <a:rPr sz="1800">
                <a:solidFill>
                  <a:srgbClr val="E6EAF2"/>
                </a:solidFill>
              </a:rPr>
              <a:t>•  One-command rebuild via deploy.sh (~30 min from cold metal to live demo)</a:t>
            </a:r>
          </a:p>
        </p:txBody>
      </p:sp>
      <p:sp>
        <p:nvSpPr>
          <p:cNvPr id="7" name="TextBox 6"/>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1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ArchNav: What Are We Migrating?</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600">
                <a:solidFill>
                  <a:srgbClr val="E6EAF2"/>
                </a:solidFill>
              </a:rPr>
              <a:t>•  ArchNav = Oracle ADF web application for architecture-knowledge navigation</a:t>
            </a:r>
          </a:p>
          <a:p>
            <a:pPr>
              <a:spcAft>
                <a:spcPts val="800"/>
              </a:spcAft>
            </a:pPr>
            <a:r>
              <a:rPr sz="1600">
                <a:solidFill>
                  <a:srgbClr val="E6EAF2"/>
                </a:solidFill>
              </a:rPr>
              <a:t>•  Built circa 2017 against very specific, very fragile dependencies:</a:t>
            </a:r>
          </a:p>
          <a:p>
            <a:pPr lvl="1">
              <a:spcAft>
                <a:spcPts val="800"/>
              </a:spcAft>
            </a:pPr>
            <a:r>
              <a:rPr sz="1400">
                <a:solidFill>
                  <a:srgbClr val="E6EAF2"/>
                </a:solidFill>
              </a:rPr>
              <a:t>–  JDK 1.7.0_80 (exact patch version)</a:t>
            </a:r>
          </a:p>
          <a:p>
            <a:pPr lvl="1">
              <a:spcAft>
                <a:spcPts val="800"/>
              </a:spcAft>
            </a:pPr>
            <a:r>
              <a:rPr sz="1400">
                <a:solidFill>
                  <a:srgbClr val="E6EAF2"/>
                </a:solidFill>
              </a:rPr>
              <a:t>–  Oracle JDeveloper 11.1.2.4 + ADF Essentials 11.1.2.4</a:t>
            </a:r>
          </a:p>
          <a:p>
            <a:pPr lvl="1">
              <a:spcAft>
                <a:spcPts val="800"/>
              </a:spcAft>
            </a:pPr>
            <a:r>
              <a:rPr sz="1400">
                <a:solidFill>
                  <a:srgbClr val="E6EAF2"/>
                </a:solidFill>
              </a:rPr>
              <a:t>–  Glassfish 3.1.2 (HTTP port 9999, admin 4848)</a:t>
            </a:r>
          </a:p>
          <a:p>
            <a:pPr lvl="1">
              <a:spcAft>
                <a:spcPts val="800"/>
              </a:spcAft>
            </a:pPr>
            <a:r>
              <a:rPr sz="1400">
                <a:solidFill>
                  <a:srgbClr val="E6EAF2"/>
                </a:solidFill>
              </a:rPr>
              <a:t>–  MySQL 5.7 (schema: archemy)</a:t>
            </a:r>
          </a:p>
          <a:p>
            <a:pPr lvl="1">
              <a:spcAft>
                <a:spcPts val="800"/>
              </a:spcAft>
            </a:pPr>
            <a:r>
              <a:rPr sz="1400">
                <a:solidFill>
                  <a:srgbClr val="E6EAF2"/>
                </a:solidFill>
              </a:rPr>
              <a:t>–  Apache Fortress 2.0.0-RC1 + ApacheDS 2.0.0-M23 + Tomcat 8.5.11</a:t>
            </a:r>
          </a:p>
          <a:p>
            <a:pPr>
              <a:spcAft>
                <a:spcPts val="800"/>
              </a:spcAft>
            </a:pPr>
            <a:r>
              <a:rPr sz="1600">
                <a:solidFill>
                  <a:srgbClr val="E6EAF2"/>
                </a:solidFill>
              </a:rPr>
              <a:t>•  Two architectural stacks: business (Glassfish/ADF/MySQL) + security (Fortress/LDAP/Tomcat)</a:t>
            </a:r>
          </a:p>
          <a:p>
            <a:pPr>
              <a:spcAft>
                <a:spcPts val="800"/>
              </a:spcAft>
            </a:pPr>
            <a:r>
              <a:rPr sz="1600">
                <a:solidFill>
                  <a:srgbClr val="E6EAF2"/>
                </a:solidFill>
              </a:rPr>
              <a:t>•  RBAC enforced via Fortress ELResolver inside the Glassfish app</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2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Original Architecture: Two-Stack Windows Install</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972800" cy="5029200"/>
          </a:xfrm>
          <a:prstGeom prst="rect">
            <a:avLst/>
          </a:prstGeom>
          <a:noFill/>
        </p:spPr>
        <p:txBody>
          <a:bodyPr wrap="square">
            <a:spAutoFit/>
          </a:bodyPr>
          <a:lstStyle/>
          <a:p>
            <a:pPr algn="l"/>
            <a:r>
              <a:rPr sz="1300">
                <a:solidFill>
                  <a:srgbClr val="E6EAF2"/>
                </a:solidFill>
                <a:latin typeface="Consolas"/>
              </a:rPr>
              <a:t>SECURITY STACK (Apache Fortress + ApacheDS + Tomcat)</a:t>
            </a:r>
          </a:p>
          <a:p>
            <a:pPr algn="l"/>
            <a:r>
              <a:rPr sz="1300">
                <a:solidFill>
                  <a:srgbClr val="8B95AB"/>
                </a:solidFill>
                <a:latin typeface="Consolas"/>
              </a:rPr>
              <a:t>   Fortress Web UI       :8080/fortress-web   (test/password)</a:t>
            </a:r>
          </a:p>
          <a:p>
            <a:pPr algn="l"/>
            <a:r>
              <a:rPr sz="1300">
                <a:solidFill>
                  <a:srgbClr val="8B95AB"/>
                </a:solidFill>
                <a:latin typeface="Consolas"/>
              </a:rPr>
              <a:t>   Fortress REST API     :8080/fortress-rest</a:t>
            </a:r>
          </a:p>
          <a:p>
            <a:pPr algn="l"/>
            <a:r>
              <a:rPr sz="1300">
                <a:solidFill>
                  <a:srgbClr val="8B95AB"/>
                </a:solidFill>
                <a:latin typeface="Consolas"/>
              </a:rPr>
              <a:t>   Fortress Core         (Maven-built)</a:t>
            </a:r>
          </a:p>
          <a:p>
            <a:pPr algn="l"/>
            <a:r>
              <a:rPr sz="1300">
                <a:solidFill>
                  <a:srgbClr val="8B95AB"/>
                </a:solidFill>
                <a:latin typeface="Consolas"/>
              </a:rPr>
              <a:t>   Apache Tomcat 8.5.11  :8080</a:t>
            </a:r>
          </a:p>
          <a:p>
            <a:pPr algn="l"/>
            <a:r>
              <a:rPr sz="1300">
                <a:solidFill>
                  <a:srgbClr val="8B95AB"/>
                </a:solidFill>
                <a:latin typeface="Consolas"/>
              </a:rPr>
              <a:t>   ApacheDS LDAP         :389  (uid=admin,ou=system / secret)</a:t>
            </a:r>
          </a:p>
          <a:p>
            <a:pPr algn="l"/>
            <a:r>
              <a:rPr sz="1300">
                <a:solidFill>
                  <a:srgbClr val="E6EAF2"/>
                </a:solidFill>
                <a:latin typeface="Consolas"/>
              </a:rPr>
              <a:t/>
            </a:r>
          </a:p>
          <a:p>
            <a:pPr algn="l"/>
            <a:r>
              <a:rPr sz="1300">
                <a:solidFill>
                  <a:srgbClr val="E6EAF2"/>
                </a:solidFill>
                <a:latin typeface="Consolas"/>
              </a:rPr>
              <a:t>BUSINESS STACK (Glassfish + ADF + MySQL)</a:t>
            </a:r>
          </a:p>
          <a:p>
            <a:pPr algn="l"/>
            <a:r>
              <a:rPr sz="1300">
                <a:solidFill>
                  <a:srgbClr val="8B95AB"/>
                </a:solidFill>
                <a:latin typeface="Consolas"/>
              </a:rPr>
              <a:t>   ArchNav Web UI        :9999/archemy/faces/login.jspx</a:t>
            </a:r>
          </a:p>
          <a:p>
            <a:pPr algn="l"/>
            <a:r>
              <a:rPr sz="1300">
                <a:solidFill>
                  <a:srgbClr val="8B95AB"/>
                </a:solidFill>
                <a:latin typeface="Consolas"/>
              </a:rPr>
              <a:t>   Oracle ADF 11.1.2.4   (calls Fortress via ELResolver)</a:t>
            </a:r>
          </a:p>
          <a:p>
            <a:pPr algn="l"/>
            <a:r>
              <a:rPr sz="1300">
                <a:solidFill>
                  <a:srgbClr val="8B95AB"/>
                </a:solidFill>
                <a:latin typeface="Consolas"/>
              </a:rPr>
              <a:t>   JDeveloper 11.1.2.4   (build+deploy to EAR)</a:t>
            </a:r>
          </a:p>
          <a:p>
            <a:pPr algn="l"/>
            <a:r>
              <a:rPr sz="1300">
                <a:solidFill>
                  <a:srgbClr val="8B95AB"/>
                </a:solidFill>
                <a:latin typeface="Consolas"/>
              </a:rPr>
              <a:t>   Glassfish 3.1.2       :9999  admin :4848  (Claude1960%)</a:t>
            </a:r>
          </a:p>
          <a:p>
            <a:pPr algn="l"/>
            <a:r>
              <a:rPr sz="1300">
                <a:solidFill>
                  <a:srgbClr val="8B95AB"/>
                </a:solidFill>
                <a:latin typeface="Consolas"/>
              </a:rPr>
              <a:t>   MySQL 5.7             :3306  schema=archemy  (archemy/archemydb1960%)</a:t>
            </a:r>
          </a:p>
          <a:p>
            <a:pPr algn="l"/>
            <a:r>
              <a:rPr sz="1300">
                <a:solidFill>
                  <a:srgbClr val="E6EAF2"/>
                </a:solidFill>
                <a:latin typeface="Consolas"/>
              </a:rPr>
              <a:t/>
            </a:r>
          </a:p>
          <a:p>
            <a:pPr algn="l"/>
            <a:r>
              <a:rPr sz="1300">
                <a:solidFill>
                  <a:srgbClr val="8B95AB"/>
                </a:solidFill>
                <a:latin typeface="Consolas"/>
              </a:rPr>
              <a:t>   Stack 1 enforces authn/authz; Stack 2 hosts the business logic.</a:t>
            </a:r>
          </a:p>
          <a:p>
            <a:pPr algn="l"/>
            <a:r>
              <a:rPr sz="1300">
                <a:solidFill>
                  <a:srgbClr val="8B95AB"/>
                </a:solidFill>
                <a:latin typeface="Consolas"/>
              </a:rPr>
              <a:t>   Cross-stack call: ADF code → ELResolver → Fortress REST → ApacheDS.</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3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Target Architecture: 4 Containers + 1 Bridge Network</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500">
                <a:solidFill>
                  <a:srgbClr val="E6EAF2"/>
                </a:solidFill>
              </a:rPr>
              <a:t>•  Dockerfile.mysql       — MySQL 5.7 + archemy schema (init.sql)</a:t>
            </a:r>
          </a:p>
          <a:p>
            <a:pPr>
              <a:spcAft>
                <a:spcPts val="800"/>
              </a:spcAft>
            </a:pPr>
            <a:r>
              <a:rPr sz="1500">
                <a:solidFill>
                  <a:srgbClr val="E6EAF2"/>
                </a:solidFill>
              </a:rPr>
              <a:t>•  Dockerfile.apacheds    — ApacheDS 2.0.0-M23, Fortress LDAP schema preloaded</a:t>
            </a:r>
          </a:p>
          <a:p>
            <a:pPr>
              <a:spcAft>
                <a:spcPts val="800"/>
              </a:spcAft>
            </a:pPr>
            <a:r>
              <a:rPr sz="1500">
                <a:solidFill>
                  <a:srgbClr val="E6EAF2"/>
                </a:solidFill>
              </a:rPr>
              <a:t>•  Dockerfile.tomcat      — Tomcat 8.5.11 + fortress-rest.war + fortress-web.war</a:t>
            </a:r>
          </a:p>
          <a:p>
            <a:pPr>
              <a:spcAft>
                <a:spcPts val="800"/>
              </a:spcAft>
            </a:pPr>
            <a:r>
              <a:rPr sz="1500">
                <a:solidFill>
                  <a:srgbClr val="E6EAF2"/>
                </a:solidFill>
              </a:rPr>
              <a:t>•  Dockerfile.glassfish   — JDK 7 + Glassfish 3.1.2 + ADF Essentials + ArchNav EAR</a:t>
            </a:r>
          </a:p>
          <a:p>
            <a:pPr>
              <a:spcAft>
                <a:spcPts val="800"/>
              </a:spcAft>
            </a:pPr>
            <a:r>
              <a:rPr sz="1500">
                <a:solidFill>
                  <a:srgbClr val="E6EAF2"/>
                </a:solidFill>
              </a:rPr>
              <a:t>•  docker-compose.yml     — 4 services on bridge network `archnav-net`</a:t>
            </a:r>
          </a:p>
          <a:p>
            <a:pPr>
              <a:spcAft>
                <a:spcPts val="800"/>
              </a:spcAft>
            </a:pPr>
            <a:r>
              <a:rPr sz="1500">
                <a:solidFill>
                  <a:srgbClr val="E6EAF2"/>
                </a:solidFill>
              </a:rPr>
              <a:t>•    • Inter-service hostnames replace localhost (apacheds, mysql, tomcat, glassfish)</a:t>
            </a:r>
          </a:p>
          <a:p>
            <a:pPr>
              <a:spcAft>
                <a:spcPts val="800"/>
              </a:spcAft>
            </a:pPr>
            <a:r>
              <a:rPr sz="1500">
                <a:solidFill>
                  <a:srgbClr val="E6EAF2"/>
                </a:solidFill>
              </a:rPr>
              <a:t>•    • External ports: 3306, 8080, 9999, 389, 4848</a:t>
            </a:r>
          </a:p>
          <a:p>
            <a:pPr>
              <a:spcAft>
                <a:spcPts val="800"/>
              </a:spcAft>
            </a:pPr>
            <a:r>
              <a:rPr sz="1500">
                <a:solidFill>
                  <a:srgbClr val="E6EAF2"/>
                </a:solidFill>
              </a:rPr>
              <a:t>•  Single-command bring-up: `docker compose up --build -d`  (~6 min cold build on EC2)</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4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AWS EC2 Deployment</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600">
                <a:solidFill>
                  <a:srgbClr val="E6EAF2"/>
                </a:solidFill>
              </a:rPr>
              <a:t>•  Instance type: t2.small (1 vCPU, 2 GB RAM) — sufficient for the demo</a:t>
            </a:r>
          </a:p>
          <a:p>
            <a:pPr>
              <a:spcAft>
                <a:spcPts val="800"/>
              </a:spcAft>
            </a:pPr>
            <a:r>
              <a:rPr sz="1600">
                <a:solidFill>
                  <a:srgbClr val="E6EAF2"/>
                </a:solidFill>
              </a:rPr>
              <a:t>•  AMI: Ubuntu Server 24.04 LTS, region us-east-1, 20 GiB gp3 storage</a:t>
            </a:r>
          </a:p>
          <a:p>
            <a:pPr>
              <a:spcAft>
                <a:spcPts val="800"/>
              </a:spcAft>
            </a:pPr>
            <a:r>
              <a:rPr sz="1600">
                <a:solidFill>
                  <a:srgbClr val="E6EAF2"/>
                </a:solidFill>
              </a:rPr>
              <a:t>•  Security group: SSH(22) + 8080 + 9999 + 4848 inbound</a:t>
            </a:r>
          </a:p>
          <a:p>
            <a:pPr>
              <a:spcAft>
                <a:spcPts val="800"/>
              </a:spcAft>
            </a:pPr>
            <a:r>
              <a:rPr sz="1600">
                <a:solidFill>
                  <a:srgbClr val="E6EAF2"/>
                </a:solidFill>
              </a:rPr>
              <a:t>•  Provisioning: SCP the docker/ tree (~278 MB) → `apt install docker.io` → `docker compose up`</a:t>
            </a:r>
          </a:p>
          <a:p>
            <a:pPr>
              <a:spcAft>
                <a:spcPts val="800"/>
              </a:spcAft>
            </a:pPr>
            <a:r>
              <a:rPr sz="1600">
                <a:solidFill>
                  <a:srgbClr val="E6EAF2"/>
                </a:solidFill>
              </a:rPr>
              <a:t>•  First-build time: ~6 min on a fresh instance</a:t>
            </a:r>
          </a:p>
          <a:p>
            <a:pPr>
              <a:spcAft>
                <a:spcPts val="800"/>
              </a:spcAft>
            </a:pPr>
            <a:r>
              <a:rPr sz="1600">
                <a:solidFill>
                  <a:srgbClr val="E6EAF2"/>
                </a:solidFill>
              </a:rPr>
              <a:t>•  Live URL during evaluation: http://&lt;public-ip&gt;:9999/archemy/faces/login.jspx</a:t>
            </a:r>
          </a:p>
          <a:p>
            <a:pPr>
              <a:spcAft>
                <a:spcPts val="800"/>
              </a:spcAft>
            </a:pPr>
            <a:r>
              <a:rPr sz="1600">
                <a:solidFill>
                  <a:srgbClr val="E6EAF2"/>
                </a:solidFill>
              </a:rPr>
              <a:t>•  Reproducible bring-up via deploy.sh (one-command); rebuild script committed in repo</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5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Engineering Challenges Encountered</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400">
                <a:solidFill>
                  <a:srgbClr val="E6EAF2"/>
                </a:solidFill>
              </a:rPr>
              <a:t>•  JDK 7 RPM packaging: extracted .jar files were in `.pack` format → added `unpack200` step in Dockerfile.glassfish</a:t>
            </a:r>
          </a:p>
          <a:p>
            <a:pPr>
              <a:spcAft>
                <a:spcPts val="800"/>
              </a:spcAft>
            </a:pPr>
            <a:r>
              <a:rPr sz="1400">
                <a:solidFill>
                  <a:srgbClr val="E6EAF2"/>
                </a:solidFill>
              </a:rPr>
              <a:t>•  Glassfish self-signed certs expired in 2022 → removed `enable-secure-admin`, used `--secure=false`</a:t>
            </a:r>
          </a:p>
          <a:p>
            <a:pPr>
              <a:spcAft>
                <a:spcPts val="800"/>
              </a:spcAft>
            </a:pPr>
            <a:r>
              <a:rPr sz="1400">
                <a:solidFill>
                  <a:srgbClr val="E6EAF2"/>
                </a:solidFill>
              </a:rPr>
              <a:t>•  Fortress WAR filename mismatch: Maven produces `fortress-rest.war`, Dockerfile copied `fortress-rest-2.0.0-RC1.war` → fixed COPY paths</a:t>
            </a:r>
          </a:p>
          <a:p>
            <a:pPr>
              <a:spcAft>
                <a:spcPts val="800"/>
              </a:spcAft>
            </a:pPr>
            <a:r>
              <a:rPr sz="1400">
                <a:solidFill>
                  <a:srgbClr val="E6EAF2"/>
                </a:solidFill>
              </a:rPr>
              <a:t>•  Fortress LDAP config scattered in 4 nested locations (lib JAR, expanded WAR JAR, __internal EAR, /opt EAR) → all four had to be patched with `host=apacheds, dc=example,dc=com, uid=admin,ou=system`</a:t>
            </a:r>
          </a:p>
          <a:p>
            <a:pPr>
              <a:spcAft>
                <a:spcPts val="800"/>
              </a:spcAft>
            </a:pPr>
            <a:r>
              <a:rPr sz="1400">
                <a:solidFill>
                  <a:srgbClr val="E6EAF2"/>
                </a:solidFill>
              </a:rPr>
              <a:t>•  Docker-Desktop WSL2 crash + C: drive full → WSL distro moved to F: drive</a:t>
            </a:r>
          </a:p>
          <a:p>
            <a:pPr>
              <a:spcAft>
                <a:spcPts val="800"/>
              </a:spcAft>
            </a:pPr>
            <a:r>
              <a:rPr sz="1400">
                <a:solidFill>
                  <a:srgbClr val="E6EAF2"/>
                </a:solidFill>
              </a:rPr>
              <a:t>•  All issues documented in install_log.md with exact commands for reproducibility</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6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Migration Result: Cloud-Based, No Code Changes</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500">
                <a:solidFill>
                  <a:srgbClr val="E6EAF2"/>
                </a:solidFill>
              </a:rPr>
              <a:t>•  ZERO source code changes to ArchNav, ADF, Fortress, or MySQL — pure environmental migration</a:t>
            </a:r>
          </a:p>
          <a:p>
            <a:pPr>
              <a:spcAft>
                <a:spcPts val="800"/>
              </a:spcAft>
            </a:pPr>
            <a:r>
              <a:rPr sz="1500">
                <a:solidFill>
                  <a:srgbClr val="E6EAF2"/>
                </a:solidFill>
              </a:rPr>
              <a:t>•  BEFORE: Single Windows host with 17-step manual install (~8 hours skilled engineer time)</a:t>
            </a:r>
          </a:p>
          <a:p>
            <a:pPr>
              <a:spcAft>
                <a:spcPts val="800"/>
              </a:spcAft>
            </a:pPr>
            <a:r>
              <a:rPr sz="1500">
                <a:solidFill>
                  <a:srgbClr val="E6EAF2"/>
                </a:solidFill>
              </a:rPr>
              <a:t>•  AFTER: `git clone &amp;&amp; cd docker &amp;&amp; docker compose up --build -d`  (~6 min)</a:t>
            </a:r>
          </a:p>
          <a:p>
            <a:pPr>
              <a:spcAft>
                <a:spcPts val="800"/>
              </a:spcAft>
            </a:pPr>
            <a:r>
              <a:rPr sz="1500">
                <a:solidFill>
                  <a:srgbClr val="E6EAF2"/>
                </a:solidFill>
              </a:rPr>
              <a:t>•  Disposable: `docker compose down -v` returns the host to clean state</a:t>
            </a:r>
          </a:p>
          <a:p>
            <a:pPr>
              <a:spcAft>
                <a:spcPts val="800"/>
              </a:spcAft>
            </a:pPr>
            <a:r>
              <a:rPr sz="1500">
                <a:solidFill>
                  <a:srgbClr val="E6EAF2"/>
                </a:solidFill>
              </a:rPr>
              <a:t>•  Reproducible: same Dockerfiles produce same containers on developer laptop and EC2 instance</a:t>
            </a:r>
          </a:p>
          <a:p>
            <a:pPr>
              <a:spcAft>
                <a:spcPts val="800"/>
              </a:spcAft>
            </a:pPr>
            <a:r>
              <a:rPr sz="1500">
                <a:solidFill>
                  <a:srgbClr val="E6EAF2"/>
                </a:solidFill>
              </a:rPr>
              <a:t>•  Ready for further evolution: cloud-enabled refactor (Part 2-style cloud APIs) becomes feasible</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7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Part 1 Live Demo</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17320"/>
            <a:ext cx="10972800" cy="5029200"/>
          </a:xfrm>
          <a:prstGeom prst="rect">
            <a:avLst/>
          </a:prstGeom>
          <a:noFill/>
        </p:spPr>
        <p:txBody>
          <a:bodyPr wrap="square">
            <a:spAutoFit/>
          </a:bodyPr>
          <a:lstStyle/>
          <a:p>
            <a:pPr>
              <a:spcAft>
                <a:spcPts val="800"/>
              </a:spcAft>
            </a:pPr>
            <a:r>
              <a:rPr sz="1700">
                <a:solidFill>
                  <a:srgbClr val="E6EAF2"/>
                </a:solidFill>
              </a:rPr>
              <a:t>•  Open public IP in browser: http://&lt;ec2-ip&gt;:9999/archemy/faces/login.jspx</a:t>
            </a:r>
          </a:p>
          <a:p>
            <a:pPr>
              <a:spcAft>
                <a:spcPts val="800"/>
              </a:spcAft>
            </a:pPr>
            <a:r>
              <a:rPr sz="1700">
                <a:solidFill>
                  <a:srgbClr val="E6EAF2"/>
                </a:solidFill>
              </a:rPr>
              <a:t>•  Login as Admin user (tom@oracle.com / oracle123) → ArchNav homepage</a:t>
            </a:r>
          </a:p>
          <a:p>
            <a:pPr>
              <a:spcAft>
                <a:spcPts val="800"/>
              </a:spcAft>
            </a:pPr>
            <a:r>
              <a:rPr sz="1700">
                <a:solidFill>
                  <a:srgbClr val="E6EAF2"/>
                </a:solidFill>
              </a:rPr>
              <a:t>•  Login as NormalUser (john@oracle.com / oracle123) → restricted view (Fortress RBAC enforces it)</a:t>
            </a:r>
          </a:p>
          <a:p>
            <a:pPr>
              <a:spcAft>
                <a:spcPts val="800"/>
              </a:spcAft>
            </a:pPr>
            <a:r>
              <a:rPr sz="1700">
                <a:solidFill>
                  <a:srgbClr val="E6EAF2"/>
                </a:solidFill>
              </a:rPr>
              <a:t>•  Show Fortress Web at http://&lt;ec2-ip&gt;:8080/fortress-web (test / password) — see the role/permission model</a:t>
            </a:r>
          </a:p>
          <a:p>
            <a:pPr>
              <a:spcAft>
                <a:spcPts val="800"/>
              </a:spcAft>
            </a:pPr>
            <a:r>
              <a:rPr sz="1700">
                <a:solidFill>
                  <a:srgbClr val="E6EAF2"/>
                </a:solidFill>
              </a:rPr>
              <a:t>•  SSH demo: `docker compose ps`, `docker compose logs glassfish | tail`</a:t>
            </a:r>
          </a:p>
          <a:p>
            <a:pPr>
              <a:spcAft>
                <a:spcPts val="800"/>
              </a:spcAft>
            </a:pPr>
            <a:r>
              <a:rPr sz="1700">
                <a:solidFill>
                  <a:srgbClr val="E6EAF2"/>
                </a:solidFill>
              </a:rPr>
              <a:t>•  → Transition to Part 2</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1 — slide 8 / 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Part 2 — Decentralized Health Monitoring System</a:t>
            </a:r>
          </a:p>
        </p:txBody>
      </p:sp>
      <p:sp>
        <p:nvSpPr>
          <p:cNvPr id="4" name="TextBox 3"/>
          <p:cNvSpPr txBox="1"/>
          <p:nvPr/>
        </p:nvSpPr>
        <p:spPr>
          <a:xfrm>
            <a:off x="548640" y="1005840"/>
            <a:ext cx="10972800" cy="457200"/>
          </a:xfrm>
          <a:prstGeom prst="rect">
            <a:avLst/>
          </a:prstGeom>
          <a:noFill/>
        </p:spPr>
        <p:txBody>
          <a:bodyPr wrap="none">
            <a:spAutoFit/>
          </a:bodyPr>
          <a:lstStyle/>
          <a:p>
            <a:r>
              <a:rPr sz="1800" i="1">
                <a:solidFill>
                  <a:srgbClr val="8B95AB"/>
                </a:solidFill>
              </a:rPr>
              <a:t>Hybrid Web2 + Web3 — IoT, ML, Blockchain, broker-less P2P</a:t>
            </a:r>
          </a:p>
        </p:txBody>
      </p:sp>
      <p:sp>
        <p:nvSpPr>
          <p:cNvPr id="5" name="Rectangle 4"/>
          <p:cNvSpPr/>
          <p:nvPr/>
        </p:nvSpPr>
        <p:spPr>
          <a:xfrm>
            <a:off x="548640" y="14173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83080"/>
            <a:ext cx="10972800" cy="5029200"/>
          </a:xfrm>
          <a:prstGeom prst="rect">
            <a:avLst/>
          </a:prstGeom>
          <a:noFill/>
        </p:spPr>
        <p:txBody>
          <a:bodyPr wrap="square">
            <a:spAutoFit/>
          </a:bodyPr>
          <a:lstStyle/>
          <a:p>
            <a:pPr>
              <a:spcAft>
                <a:spcPts val="800"/>
              </a:spcAft>
            </a:pPr>
            <a:r>
              <a:rPr sz="1800">
                <a:solidFill>
                  <a:srgbClr val="E6EAF2"/>
                </a:solidFill>
              </a:rPr>
              <a:t>•  5 cooperating processes, broker-less P2P mesh — no central message router</a:t>
            </a:r>
          </a:p>
          <a:p>
            <a:pPr>
              <a:spcAft>
                <a:spcPts val="800"/>
              </a:spcAft>
            </a:pPr>
            <a:r>
              <a:rPr sz="1800">
                <a:solidFill>
                  <a:srgbClr val="E6EAF2"/>
                </a:solidFill>
              </a:rPr>
              <a:t>•  3 cloud platforms actively engaged: Azure IoT Hub + AWS S3 + Ethereum Sepolia</a:t>
            </a:r>
          </a:p>
          <a:p>
            <a:pPr>
              <a:spcAft>
                <a:spcPts val="800"/>
              </a:spcAft>
            </a:pPr>
            <a:r>
              <a:rPr sz="1800">
                <a:solidFill>
                  <a:srgbClr val="E6EAF2"/>
                </a:solidFill>
              </a:rPr>
              <a:t>•  ML model artefact lives in S3, downloaded by ML node at startup</a:t>
            </a:r>
          </a:p>
          <a:p>
            <a:pPr>
              <a:spcAft>
                <a:spcPts val="800"/>
              </a:spcAft>
            </a:pPr>
            <a:r>
              <a:rPr sz="1800">
                <a:solidFill>
                  <a:srgbClr val="E6EAF2"/>
                </a:solidFill>
              </a:rPr>
              <a:t>•  Every flagged anomaly: archived to S3, hash anchored on-chain, dashboard shows both links</a:t>
            </a:r>
          </a:p>
          <a:p>
            <a:pPr>
              <a:spcAft>
                <a:spcPts val="800"/>
              </a:spcAft>
            </a:pPr>
            <a:r>
              <a:rPr sz="1800">
                <a:solidFill>
                  <a:srgbClr val="E6EAF2"/>
                </a:solidFill>
              </a:rPr>
              <a:t>•  End-to-end auditable: pull S3 → recompute SHA-256 → matches on-chain hash</a:t>
            </a:r>
          </a:p>
        </p:txBody>
      </p:sp>
      <p:sp>
        <p:nvSpPr>
          <p:cNvPr id="7" name="TextBox 6"/>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1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Problem &amp; Goals</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500">
                <a:solidFill>
                  <a:srgbClr val="E6EAF2"/>
                </a:solidFill>
              </a:rPr>
              <a:t>•  Today's IoT health platforms are single-tenant: one operator holds the data and the audit log</a:t>
            </a:r>
          </a:p>
          <a:p>
            <a:pPr>
              <a:spcAft>
                <a:spcPts val="800"/>
              </a:spcAft>
            </a:pPr>
            <a:r>
              <a:rPr sz="1500">
                <a:solidFill>
                  <a:srgbClr val="E6EAF2"/>
                </a:solidFill>
              </a:rPr>
              <a:t>•  Two failure modes: (1) the operator can silently rewrite history, (2) the operator going down takes everyone down</a:t>
            </a:r>
          </a:p>
          <a:p>
            <a:pPr>
              <a:spcAft>
                <a:spcPts val="800"/>
              </a:spcAft>
            </a:pPr>
            <a:r>
              <a:rPr sz="1500">
                <a:solidFill>
                  <a:srgbClr val="E6EAF2"/>
                </a:solidFill>
              </a:rPr>
              <a:t>•  Goal: distribute processing across independent peers + anchor the audit log on a public chain</a:t>
            </a:r>
          </a:p>
          <a:p>
            <a:pPr lvl="1">
              <a:spcAft>
                <a:spcPts val="800"/>
              </a:spcAft>
            </a:pPr>
            <a:r>
              <a:rPr sz="1300">
                <a:solidFill>
                  <a:srgbClr val="E6EAF2"/>
                </a:solidFill>
              </a:rPr>
              <a:t>–  G1 — broker-less P2P with bootstrap discovery and master election</a:t>
            </a:r>
          </a:p>
          <a:p>
            <a:pPr lvl="1">
              <a:spcAft>
                <a:spcPts val="800"/>
              </a:spcAft>
            </a:pPr>
            <a:r>
              <a:rPr sz="1300">
                <a:solidFill>
                  <a:srgbClr val="E6EAF2"/>
                </a:solidFill>
              </a:rPr>
              <a:t>–  G2 — IoT simulator with ground-truth labels for ML evaluation</a:t>
            </a:r>
          </a:p>
          <a:p>
            <a:pPr lvl="1">
              <a:spcAft>
                <a:spcPts val="800"/>
              </a:spcAft>
            </a:pPr>
            <a:r>
              <a:rPr sz="1300">
                <a:solidFill>
                  <a:srgbClr val="E6EAF2"/>
                </a:solidFill>
              </a:rPr>
              <a:t>–  G3 — unsupervised anomaly detector with reasonable recall on synthetic data</a:t>
            </a:r>
          </a:p>
          <a:p>
            <a:pPr lvl="1">
              <a:spcAft>
                <a:spcPts val="800"/>
              </a:spcAft>
            </a:pPr>
            <a:r>
              <a:rPr sz="1300">
                <a:solidFill>
                  <a:srgbClr val="E6EAF2"/>
                </a:solidFill>
              </a:rPr>
              <a:t>–  G4 — deploy a real smart contract on a real public chain (not a local simulator)</a:t>
            </a:r>
          </a:p>
          <a:p>
            <a:pPr lvl="1">
              <a:spcAft>
                <a:spcPts val="800"/>
              </a:spcAft>
            </a:pPr>
            <a:r>
              <a:rPr sz="1300">
                <a:solidFill>
                  <a:srgbClr val="E6EAF2"/>
                </a:solidFill>
              </a:rPr>
              <a:t>–  G5 — single dashboard fusing sensor stream, ML verdicts, peer state, on-chain proofs</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2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Architecture: 5 Roles + 3 Clouds</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371600"/>
            <a:ext cx="11430000" cy="5029200"/>
          </a:xfrm>
          <a:prstGeom prst="rect">
            <a:avLst/>
          </a:prstGeom>
          <a:noFill/>
        </p:spPr>
        <p:txBody>
          <a:bodyPr wrap="square">
            <a:spAutoFit/>
          </a:bodyPr>
          <a:lstStyle/>
          <a:p>
            <a:r>
              <a:rPr sz="1100">
                <a:solidFill>
                  <a:srgbClr val="E6EAF2"/>
                </a:solidFill>
                <a:latin typeface="Consolas"/>
              </a:rPr>
              <a:t>                                ┌──────────────┐</a:t>
            </a:r>
          </a:p>
          <a:p>
            <a:r>
              <a:rPr sz="1100">
                <a:solidFill>
                  <a:srgbClr val="E6EAF2"/>
                </a:solidFill>
                <a:latin typeface="Consolas"/>
              </a:rPr>
              <a:t>                                │ Azure IoT Hub │  ← MQTT 8883/TLS, F1 free tier</a:t>
            </a:r>
          </a:p>
          <a:p>
            <a:r>
              <a:rPr sz="1100">
                <a:solidFill>
                  <a:srgbClr val="E6EAF2"/>
                </a:solidFill>
                <a:latin typeface="Consolas"/>
              </a:rPr>
              <a:t>                                └──────▲───────┘</a:t>
            </a:r>
          </a:p>
          <a:p>
            <a:r>
              <a:rPr sz="1100">
                <a:solidFill>
                  <a:srgbClr val="E6EAF2"/>
                </a:solidFill>
                <a:latin typeface="Consolas"/>
              </a:rPr>
              <a:t>                                       │ telemetry</a:t>
            </a:r>
          </a:p>
          <a:p>
            <a:r>
              <a:rPr sz="1100">
                <a:solidFill>
                  <a:srgbClr val="E6EAF2"/>
                </a:solidFill>
                <a:latin typeface="Consolas"/>
              </a:rPr>
              <a:t>   ┌────────────┐  MSG_SENSOR  ┌───────┴──────┐                     ┌──────────┐</a:t>
            </a:r>
          </a:p>
          <a:p>
            <a:r>
              <a:rPr sz="1100">
                <a:solidFill>
                  <a:srgbClr val="E6EAF2"/>
                </a:solidFill>
                <a:latin typeface="Consolas"/>
              </a:rPr>
              <a:t>   │ IoT (sim)  │─────────────▶│   ML node    │◀──── load model ───│  AWS S3  │</a:t>
            </a:r>
          </a:p>
          <a:p>
            <a:r>
              <a:rPr sz="1100">
                <a:solidFill>
                  <a:srgbClr val="E6EAF2"/>
                </a:solidFill>
                <a:latin typeface="Consolas"/>
              </a:rPr>
              <a:t>   └────────────┘              └──────┬───────┘                     └──────────┘</a:t>
            </a:r>
          </a:p>
          <a:p>
            <a:r>
              <a:rPr sz="1100">
                <a:solidFill>
                  <a:srgbClr val="E6EAF2"/>
                </a:solidFill>
                <a:latin typeface="Consolas"/>
              </a:rPr>
              <a:t>                                      │ MSG_ANOMALY                       ▲</a:t>
            </a:r>
          </a:p>
          <a:p>
            <a:r>
              <a:rPr sz="1100">
                <a:solidFill>
                  <a:srgbClr val="E6EAF2"/>
                </a:solidFill>
                <a:latin typeface="Consolas"/>
              </a:rPr>
              <a:t>                                      ▼                                   │</a:t>
            </a:r>
          </a:p>
          <a:p>
            <a:r>
              <a:rPr sz="1100">
                <a:solidFill>
                  <a:srgbClr val="E6EAF2"/>
                </a:solidFill>
                <a:latin typeface="Consolas"/>
              </a:rPr>
              <a:t>                              ┌────────────────┐  PUT raw JSON ───────────┘</a:t>
            </a:r>
          </a:p>
          <a:p>
            <a:r>
              <a:rPr sz="1100">
                <a:solidFill>
                  <a:srgbClr val="E6EAF2"/>
                </a:solidFill>
                <a:latin typeface="Consolas"/>
              </a:rPr>
              <a:t>                              │   BC node      │                          │</a:t>
            </a:r>
          </a:p>
          <a:p>
            <a:r>
              <a:rPr sz="1100">
                <a:solidFill>
                  <a:srgbClr val="E6EAF2"/>
                </a:solidFill>
                <a:latin typeface="Consolas"/>
              </a:rPr>
              <a:t>                              │ NonceMgr+S3    │  logAnomaly(hash, …)     │</a:t>
            </a:r>
          </a:p>
          <a:p>
            <a:r>
              <a:rPr sz="1100">
                <a:solidFill>
                  <a:srgbClr val="E6EAF2"/>
                </a:solidFill>
                <a:latin typeface="Consolas"/>
              </a:rPr>
              <a:t>                              └──────┬─────────┘                          │</a:t>
            </a:r>
          </a:p>
          <a:p>
            <a:r>
              <a:rPr sz="1100">
                <a:solidFill>
                  <a:srgbClr val="E6EAF2"/>
                </a:solidFill>
                <a:latin typeface="Consolas"/>
              </a:rPr>
              <a:t>                                     ▼                                    │</a:t>
            </a:r>
          </a:p>
          <a:p>
            <a:r>
              <a:rPr sz="1100">
                <a:solidFill>
                  <a:srgbClr val="E6EAF2"/>
                </a:solidFill>
                <a:latin typeface="Consolas"/>
              </a:rPr>
              <a:t>                            ┌────────────────┐                            │</a:t>
            </a:r>
          </a:p>
          <a:p>
            <a:r>
              <a:rPr sz="1100">
                <a:solidFill>
                  <a:srgbClr val="E6EAF2"/>
                </a:solidFill>
                <a:latin typeface="Consolas"/>
              </a:rPr>
              <a:t>                            │  Sepolia chain │  block confirmation        │</a:t>
            </a:r>
          </a:p>
          <a:p>
            <a:r>
              <a:rPr sz="1100">
                <a:solidFill>
                  <a:srgbClr val="E6EAF2"/>
                </a:solidFill>
                <a:latin typeface="Consolas"/>
              </a:rPr>
              <a:t>                            └──────┬─────────┘                            │</a:t>
            </a:r>
          </a:p>
          <a:p>
            <a:r>
              <a:rPr sz="1100">
                <a:solidFill>
                  <a:srgbClr val="E6EAF2"/>
                </a:solidFill>
                <a:latin typeface="Consolas"/>
              </a:rPr>
              <a:t>                                   │ MSG_BC_LOGGED (tx + s3_uri)          │</a:t>
            </a:r>
          </a:p>
          <a:p>
            <a:r>
              <a:rPr sz="1100">
                <a:solidFill>
                  <a:srgbClr val="E6EAF2"/>
                </a:solidFill>
                <a:latin typeface="Consolas"/>
              </a:rPr>
              <a:t>                                   ▼                                      │</a:t>
            </a:r>
          </a:p>
          <a:p>
            <a:r>
              <a:rPr sz="1100">
                <a:solidFill>
                  <a:srgbClr val="E6EAF2"/>
                </a:solidFill>
                <a:latin typeface="Consolas"/>
              </a:rPr>
              <a:t>                          ┌──────────────────┐                            │</a:t>
            </a:r>
          </a:p>
          <a:p>
            <a:r>
              <a:rPr sz="1100">
                <a:solidFill>
                  <a:srgbClr val="E6EAF2"/>
                </a:solidFill>
                <a:latin typeface="Consolas"/>
              </a:rPr>
              <a:t>                          │     Dashboard    │ ─ aiohttp WS ─ Browser     │</a:t>
            </a:r>
          </a:p>
          <a:p>
            <a:r>
              <a:rPr sz="1100">
                <a:solidFill>
                  <a:srgbClr val="E6EAF2"/>
                </a:solidFill>
                <a:latin typeface="Consolas"/>
              </a:rPr>
              <a:t>                          │  (Etherscan + S3 │      ▲                     │</a:t>
            </a:r>
          </a:p>
          <a:p>
            <a:r>
              <a:rPr sz="1100">
                <a:solidFill>
                  <a:srgbClr val="E6EAF2"/>
                </a:solidFill>
                <a:latin typeface="Consolas"/>
              </a:rPr>
              <a:t>                          │   raw-JSON link) │      │                     │</a:t>
            </a:r>
          </a:p>
          <a:p>
            <a:r>
              <a:rPr sz="1100">
                <a:solidFill>
                  <a:srgbClr val="E6EAF2"/>
                </a:solidFill>
                <a:latin typeface="Consolas"/>
              </a:rPr>
              <a:t>                          └──────────────────┘      └─ S3 raw JSON ───────┘</a:t>
            </a:r>
          </a:p>
          <a:p>
            <a:r>
              <a:rPr sz="1100">
                <a:solidFill>
                  <a:srgbClr val="E6EAF2"/>
                </a:solidFill>
                <a:latin typeface="Consolas"/>
              </a:rPr>
              <a:t/>
            </a:r>
          </a:p>
          <a:p>
            <a:r>
              <a:rPr sz="1100">
                <a:solidFill>
                  <a:srgbClr val="E6EAF2"/>
                </a:solidFill>
                <a:latin typeface="Consolas"/>
              </a:rPr>
              <a:t>   Bootstrap (5th role) is off the data path: discovery only.</a:t>
            </a:r>
          </a:p>
          <a:p>
            <a:r>
              <a:rPr sz="1100">
                <a:solidFill>
                  <a:srgbClr val="E6EAF2"/>
                </a:solidFill>
                <a:latin typeface="Consolas"/>
              </a:rPr>
              <a:t>   Cloud services in use: Azure IoT Hub + AWS S3 + Ethereum Sepolia (3 PaaS / 3 clouds).</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3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P2P Layer: BTP / libp2p Decision (Disclosure)</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400">
                <a:solidFill>
                  <a:srgbClr val="E6EAF2"/>
                </a:solidFill>
              </a:rPr>
              <a:t>•  Midterm proposal claimed BTP framework. After investigation:</a:t>
            </a:r>
          </a:p>
          <a:p>
            <a:pPr lvl="1">
              <a:spcAft>
                <a:spcPts val="800"/>
              </a:spcAft>
            </a:pPr>
            <a:r>
              <a:rPr sz="1200">
                <a:solidFill>
                  <a:srgbClr val="E6EAF2"/>
                </a:solidFill>
              </a:rPr>
              <a:t>–  BTP public Python/Java repos last updated 2018, archived</a:t>
            </a:r>
          </a:p>
          <a:p>
            <a:pPr lvl="1">
              <a:spcAft>
                <a:spcPts val="800"/>
              </a:spcAft>
            </a:pPr>
            <a:r>
              <a:rPr sz="1200">
                <a:solidFill>
                  <a:srgbClr val="E6EAF2"/>
                </a:solidFill>
              </a:rPr>
              <a:t>–  py-libp2p alpha quality, incomplete Kademlia DHT</a:t>
            </a:r>
          </a:p>
          <a:p>
            <a:pPr lvl="1">
              <a:spcAft>
                <a:spcPts val="800"/>
              </a:spcAft>
            </a:pPr>
            <a:r>
              <a:rPr sz="1200">
                <a:solidFill>
                  <a:srgbClr val="E6EAF2"/>
                </a:solidFill>
              </a:rPr>
              <a:t>–  Migrating ~950 LOC four days before demo = unacceptable schedule risk</a:t>
            </a:r>
          </a:p>
          <a:p>
            <a:pPr>
              <a:spcAft>
                <a:spcPts val="800"/>
              </a:spcAft>
            </a:pPr>
            <a:r>
              <a:rPr sz="1400">
                <a:solidFill>
                  <a:srgbClr val="E6EAF2"/>
                </a:solidFill>
              </a:rPr>
              <a:t>•  Built equivalent broker-less overlay (~280 lines, p2p-network/peer_node.py)</a:t>
            </a:r>
          </a:p>
          <a:p>
            <a:pPr>
              <a:spcAft>
                <a:spcPts val="800"/>
              </a:spcAft>
            </a:pPr>
            <a:r>
              <a:rPr sz="1400">
                <a:solidFill>
                  <a:srgbClr val="E6EAF2"/>
                </a:solidFill>
              </a:rPr>
              <a:t>•  All architectural properties present:</a:t>
            </a:r>
          </a:p>
          <a:p>
            <a:pPr lvl="1">
              <a:spcAft>
                <a:spcPts val="800"/>
              </a:spcAft>
            </a:pPr>
            <a:r>
              <a:rPr sz="1200">
                <a:solidFill>
                  <a:srgbClr val="E6EAF2"/>
                </a:solidFill>
              </a:rPr>
              <a:t>–  Broker-less direct-connection mesh ✓</a:t>
            </a:r>
          </a:p>
          <a:p>
            <a:pPr lvl="1">
              <a:spcAft>
                <a:spcPts val="800"/>
              </a:spcAft>
            </a:pPr>
            <a:r>
              <a:rPr sz="1200">
                <a:solidFill>
                  <a:srgbClr val="E6EAF2"/>
                </a:solidFill>
              </a:rPr>
              <a:t>–  Bootstrap-based peer discovery ✓ (any peer answers MSG_HELLO, not just bootstrap)</a:t>
            </a:r>
          </a:p>
          <a:p>
            <a:pPr lvl="1">
              <a:spcAft>
                <a:spcPts val="800"/>
              </a:spcAft>
            </a:pPr>
            <a:r>
              <a:rPr sz="1200">
                <a:solidFill>
                  <a:srgbClr val="E6EAF2"/>
                </a:solidFill>
              </a:rPr>
              <a:t>–  Bully leader election ✓ — _start_election(), bully algorithm</a:t>
            </a:r>
          </a:p>
          <a:p>
            <a:pPr lvl="1">
              <a:spcAft>
                <a:spcPts val="800"/>
              </a:spcAft>
            </a:pPr>
            <a:r>
              <a:rPr sz="1200">
                <a:solidFill>
                  <a:srgbClr val="E6EAF2"/>
                </a:solidFill>
              </a:rPr>
              <a:t>–  Liveness keepalive ✓ — MSG_PING/MSG_PONG every 15s</a:t>
            </a:r>
          </a:p>
          <a:p>
            <a:pPr lvl="1">
              <a:spcAft>
                <a:spcPts val="800"/>
              </a:spcAft>
            </a:pPr>
            <a:r>
              <a:rPr sz="1200">
                <a:solidFill>
                  <a:srgbClr val="E6EAF2"/>
                </a:solidFill>
              </a:rPr>
              <a:t>–  Wire protocol: 4-byte big-endian length prefix + UTF-8 JSON</a:t>
            </a:r>
          </a:p>
          <a:p>
            <a:pPr>
              <a:spcAft>
                <a:spcPts val="800"/>
              </a:spcAft>
            </a:pPr>
            <a:r>
              <a:rPr sz="1400">
                <a:solidFill>
                  <a:srgbClr val="E6EAF2"/>
                </a:solidFill>
              </a:rPr>
              <a:t>•  Disclosed in §3.6 of final report — substitution driven by upstream readiness, not scope reduction</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4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IoT Layer + Azure IoT Hub</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500">
                <a:solidFill>
                  <a:srgbClr val="E6EAF2"/>
                </a:solidFill>
              </a:rPr>
              <a:t>•  Synthetic sensor: heart rate, body temp, SpO₂ — clipped Gaussians around resting-adult ranges</a:t>
            </a:r>
          </a:p>
          <a:p>
            <a:pPr>
              <a:spcAft>
                <a:spcPts val="800"/>
              </a:spcAft>
            </a:pPr>
            <a:r>
              <a:rPr sz="1500">
                <a:solidFill>
                  <a:srgbClr val="E6EAF2"/>
                </a:solidFill>
              </a:rPr>
              <a:t>•  Injected anomaly rate: 8% by default — four kinds (hr_high, hr_low, temp_high, spo2_low)</a:t>
            </a:r>
          </a:p>
          <a:p>
            <a:pPr>
              <a:spcAft>
                <a:spcPts val="800"/>
              </a:spcAft>
            </a:pPr>
            <a:r>
              <a:rPr sz="1500">
                <a:solidFill>
                  <a:srgbClr val="E6EAF2"/>
                </a:solidFill>
              </a:rPr>
              <a:t>•  Each reading: (1) broadcast as MSG_SENSOR over P2P, (2) mirrored to Azure IoT Hub via MQTT 8883/TLS</a:t>
            </a:r>
          </a:p>
          <a:p>
            <a:pPr>
              <a:spcAft>
                <a:spcPts val="800"/>
              </a:spcAft>
            </a:pPr>
            <a:r>
              <a:rPr sz="1500">
                <a:solidFill>
                  <a:srgbClr val="E6EAF2"/>
                </a:solidFill>
              </a:rPr>
              <a:t>•  Azure auth: SAS token over `&lt;host&gt;/devices/&lt;device-id&gt;` using HMAC-SHA256 (no extra SDK)</a:t>
            </a:r>
          </a:p>
          <a:p>
            <a:pPr>
              <a:spcAft>
                <a:spcPts val="800"/>
              </a:spcAft>
            </a:pPr>
            <a:r>
              <a:rPr sz="1500">
                <a:solidFill>
                  <a:srgbClr val="E6EAF2"/>
                </a:solidFill>
              </a:rPr>
              <a:t>•  Free tier F1: 8 000 messages/day, $0/month — comfortably handles demo traffic</a:t>
            </a:r>
          </a:p>
          <a:p>
            <a:pPr>
              <a:spcAft>
                <a:spcPts val="800"/>
              </a:spcAft>
            </a:pPr>
            <a:r>
              <a:rPr sz="1500">
                <a:solidFill>
                  <a:srgbClr val="E6EAF2"/>
                </a:solidFill>
              </a:rPr>
              <a:t>•  Connection-state logging: 'azure: published N messages so far' every 10 reads</a:t>
            </a:r>
          </a:p>
          <a:p>
            <a:pPr>
              <a:spcAft>
                <a:spcPts val="800"/>
              </a:spcAft>
            </a:pPr>
            <a:r>
              <a:rPr sz="1500">
                <a:solidFill>
                  <a:srgbClr val="E6EAF2"/>
                </a:solidFill>
              </a:rPr>
              <a:t>•  Last rehearsal (2026-04-26): 310 messages published in ~8 minutes, 100% success rate</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5 / 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ML Layer + S3 Model Storage</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500">
                <a:solidFill>
                  <a:srgbClr val="E6EAF2"/>
                </a:solidFill>
              </a:rPr>
              <a:t>•  Algorithm: Isolation Forest (sklearn, n_estimators=200, contamination=0.1)</a:t>
            </a:r>
          </a:p>
          <a:p>
            <a:pPr>
              <a:spcAft>
                <a:spcPts val="800"/>
              </a:spcAft>
            </a:pPr>
            <a:r>
              <a:rPr sz="1500">
                <a:solidFill>
                  <a:srgbClr val="E6EAF2"/>
                </a:solidFill>
              </a:rPr>
              <a:t>•  Training set: 5 000 synthetic healthy samples; held-out test: 1 500 (seed=99)</a:t>
            </a:r>
          </a:p>
          <a:p>
            <a:pPr>
              <a:spcAft>
                <a:spcPts val="800"/>
              </a:spcAft>
            </a:pPr>
            <a:r>
              <a:rPr sz="1500">
                <a:solidFill>
                  <a:srgbClr val="E6EAF2"/>
                </a:solidFill>
              </a:rPr>
              <a:t>•  Reported metrics on test set:</a:t>
            </a:r>
          </a:p>
        </p:txBody>
      </p:sp>
      <p:graphicFrame>
        <p:nvGraphicFramePr>
          <p:cNvPr id="6" name="Table 5"/>
          <p:cNvGraphicFramePr>
            <a:graphicFrameLocks noGrp="1"/>
          </p:cNvGraphicFramePr>
          <p:nvPr/>
        </p:nvGraphicFramePr>
        <p:xfrm>
          <a:off x="640080" y="2697480"/>
          <a:ext cx="7772400" cy="1463040"/>
        </p:xfrm>
        <a:graphic>
          <a:graphicData uri="http://schemas.openxmlformats.org/drawingml/2006/table">
            <a:tbl>
              <a:tblPr firstRow="1" bandRow="1">
                <a:tableStyleId>{5C22544A-7EE6-4342-B048-85BDC9FD1C3A}</a:tableStyleId>
              </a:tblPr>
              <a:tblGrid>
                <a:gridCol w="1554480"/>
                <a:gridCol w="1554480"/>
                <a:gridCol w="1554480"/>
                <a:gridCol w="1554480"/>
                <a:gridCol w="1554480"/>
              </a:tblGrid>
              <a:tr h="365760">
                <a:tc>
                  <a:txBody>
                    <a:bodyPr/>
                    <a:lstStyle/>
                    <a:p>
                      <a:r>
                        <a:rPr sz="1400" b="1">
                          <a:solidFill>
                            <a:srgbClr val="E6EAF2"/>
                          </a:solidFill>
                        </a:rPr>
                        <a:t>Class</a:t>
                      </a:r>
                    </a:p>
                  </a:txBody>
                  <a:tcPr>
                    <a:solidFill>
                      <a:srgbClr val="570EA0"/>
                    </a:solidFill>
                  </a:tcPr>
                </a:tc>
                <a:tc>
                  <a:txBody>
                    <a:bodyPr/>
                    <a:lstStyle/>
                    <a:p>
                      <a:r>
                        <a:rPr sz="1400" b="1">
                          <a:solidFill>
                            <a:srgbClr val="E6EAF2"/>
                          </a:solidFill>
                        </a:rPr>
                        <a:t>Precision</a:t>
                      </a:r>
                    </a:p>
                  </a:txBody>
                  <a:tcPr>
                    <a:solidFill>
                      <a:srgbClr val="570EA0"/>
                    </a:solidFill>
                  </a:tcPr>
                </a:tc>
                <a:tc>
                  <a:txBody>
                    <a:bodyPr/>
                    <a:lstStyle/>
                    <a:p>
                      <a:r>
                        <a:rPr sz="1400" b="1">
                          <a:solidFill>
                            <a:srgbClr val="E6EAF2"/>
                          </a:solidFill>
                        </a:rPr>
                        <a:t>Recall</a:t>
                      </a:r>
                    </a:p>
                  </a:txBody>
                  <a:tcPr>
                    <a:solidFill>
                      <a:srgbClr val="570EA0"/>
                    </a:solidFill>
                  </a:tcPr>
                </a:tc>
                <a:tc>
                  <a:txBody>
                    <a:bodyPr/>
                    <a:lstStyle/>
                    <a:p>
                      <a:r>
                        <a:rPr sz="1400" b="1">
                          <a:solidFill>
                            <a:srgbClr val="E6EAF2"/>
                          </a:solidFill>
                        </a:rPr>
                        <a:t>F1</a:t>
                      </a:r>
                    </a:p>
                  </a:txBody>
                  <a:tcPr>
                    <a:solidFill>
                      <a:srgbClr val="570EA0"/>
                    </a:solidFill>
                  </a:tcPr>
                </a:tc>
                <a:tc>
                  <a:txBody>
                    <a:bodyPr/>
                    <a:lstStyle/>
                    <a:p>
                      <a:r>
                        <a:rPr sz="1400" b="1">
                          <a:solidFill>
                            <a:srgbClr val="E6EAF2"/>
                          </a:solidFill>
                        </a:rPr>
                        <a:t>Support</a:t>
                      </a:r>
                    </a:p>
                  </a:txBody>
                  <a:tcPr>
                    <a:solidFill>
                      <a:srgbClr val="570EA0"/>
                    </a:solidFill>
                  </a:tcPr>
                </a:tc>
              </a:tr>
              <a:tr h="365760">
                <a:tc>
                  <a:txBody>
                    <a:bodyPr/>
                    <a:lstStyle/>
                    <a:p>
                      <a:r>
                        <a:rPr sz="1400" b="0">
                          <a:solidFill>
                            <a:srgbClr val="E6EAF2"/>
                          </a:solidFill>
                        </a:rPr>
                        <a:t>Normal</a:t>
                      </a:r>
                    </a:p>
                  </a:txBody>
                  <a:tcPr>
                    <a:solidFill>
                      <a:srgbClr val="0F141F"/>
                    </a:solidFill>
                  </a:tcPr>
                </a:tc>
                <a:tc>
                  <a:txBody>
                    <a:bodyPr/>
                    <a:lstStyle/>
                    <a:p>
                      <a:r>
                        <a:rPr sz="1400" b="0">
                          <a:solidFill>
                            <a:srgbClr val="E6EAF2"/>
                          </a:solidFill>
                        </a:rPr>
                        <a:t>0.99</a:t>
                      </a:r>
                    </a:p>
                  </a:txBody>
                  <a:tcPr>
                    <a:solidFill>
                      <a:srgbClr val="0F141F"/>
                    </a:solidFill>
                  </a:tcPr>
                </a:tc>
                <a:tc>
                  <a:txBody>
                    <a:bodyPr/>
                    <a:lstStyle/>
                    <a:p>
                      <a:r>
                        <a:rPr sz="1400" b="0">
                          <a:solidFill>
                            <a:srgbClr val="E6EAF2"/>
                          </a:solidFill>
                        </a:rPr>
                        <a:t>0.99</a:t>
                      </a:r>
                    </a:p>
                  </a:txBody>
                  <a:tcPr>
                    <a:solidFill>
                      <a:srgbClr val="0F141F"/>
                    </a:solidFill>
                  </a:tcPr>
                </a:tc>
                <a:tc>
                  <a:txBody>
                    <a:bodyPr/>
                    <a:lstStyle/>
                    <a:p>
                      <a:r>
                        <a:rPr sz="1400" b="0">
                          <a:solidFill>
                            <a:srgbClr val="E6EAF2"/>
                          </a:solidFill>
                        </a:rPr>
                        <a:t>0.99</a:t>
                      </a:r>
                    </a:p>
                  </a:txBody>
                  <a:tcPr>
                    <a:solidFill>
                      <a:srgbClr val="0F141F"/>
                    </a:solidFill>
                  </a:tcPr>
                </a:tc>
                <a:tc>
                  <a:txBody>
                    <a:bodyPr/>
                    <a:lstStyle/>
                    <a:p>
                      <a:r>
                        <a:rPr sz="1400" b="0">
                          <a:solidFill>
                            <a:srgbClr val="E6EAF2"/>
                          </a:solidFill>
                        </a:rPr>
                        <a:t>1 350</a:t>
                      </a:r>
                    </a:p>
                  </a:txBody>
                  <a:tcPr>
                    <a:solidFill>
                      <a:srgbClr val="0F141F"/>
                    </a:solidFill>
                  </a:tcPr>
                </a:tc>
              </a:tr>
              <a:tr h="365760">
                <a:tc>
                  <a:txBody>
                    <a:bodyPr/>
                    <a:lstStyle/>
                    <a:p>
                      <a:r>
                        <a:rPr sz="1400" b="0">
                          <a:solidFill>
                            <a:srgbClr val="E6EAF2"/>
                          </a:solidFill>
                        </a:rPr>
                        <a:t>Anomaly</a:t>
                      </a:r>
                    </a:p>
                  </a:txBody>
                  <a:tcPr>
                    <a:solidFill>
                      <a:srgbClr val="0F141F"/>
                    </a:solidFill>
                  </a:tcPr>
                </a:tc>
                <a:tc>
                  <a:txBody>
                    <a:bodyPr/>
                    <a:lstStyle/>
                    <a:p>
                      <a:r>
                        <a:rPr sz="1400" b="0">
                          <a:solidFill>
                            <a:srgbClr val="E6EAF2"/>
                          </a:solidFill>
                        </a:rPr>
                        <a:t>0.90</a:t>
                      </a:r>
                    </a:p>
                  </a:txBody>
                  <a:tcPr>
                    <a:solidFill>
                      <a:srgbClr val="0F141F"/>
                    </a:solidFill>
                  </a:tcPr>
                </a:tc>
                <a:tc>
                  <a:txBody>
                    <a:bodyPr/>
                    <a:lstStyle/>
                    <a:p>
                      <a:r>
                        <a:rPr sz="1400" b="0">
                          <a:solidFill>
                            <a:srgbClr val="E6EAF2"/>
                          </a:solidFill>
                        </a:rPr>
                        <a:t>0.98</a:t>
                      </a:r>
                    </a:p>
                  </a:txBody>
                  <a:tcPr>
                    <a:solidFill>
                      <a:srgbClr val="0F141F"/>
                    </a:solidFill>
                  </a:tcPr>
                </a:tc>
                <a:tc>
                  <a:txBody>
                    <a:bodyPr/>
                    <a:lstStyle/>
                    <a:p>
                      <a:r>
                        <a:rPr sz="1400" b="0">
                          <a:solidFill>
                            <a:srgbClr val="E6EAF2"/>
                          </a:solidFill>
                        </a:rPr>
                        <a:t>0.94</a:t>
                      </a:r>
                    </a:p>
                  </a:txBody>
                  <a:tcPr>
                    <a:solidFill>
                      <a:srgbClr val="0F141F"/>
                    </a:solidFill>
                  </a:tcPr>
                </a:tc>
                <a:tc>
                  <a:txBody>
                    <a:bodyPr/>
                    <a:lstStyle/>
                    <a:p>
                      <a:r>
                        <a:rPr sz="1400" b="0">
                          <a:solidFill>
                            <a:srgbClr val="E6EAF2"/>
                          </a:solidFill>
                        </a:rPr>
                        <a:t>150</a:t>
                      </a:r>
                    </a:p>
                  </a:txBody>
                  <a:tcPr>
                    <a:solidFill>
                      <a:srgbClr val="0F141F"/>
                    </a:solidFill>
                  </a:tcPr>
                </a:tc>
              </a:tr>
              <a:tr h="365760">
                <a:tc>
                  <a:txBody>
                    <a:bodyPr/>
                    <a:lstStyle/>
                    <a:p>
                      <a:r>
                        <a:rPr sz="1400" b="0">
                          <a:solidFill>
                            <a:srgbClr val="E6EAF2"/>
                          </a:solidFill>
                        </a:rPr>
                        <a:t>Overall accuracy</a:t>
                      </a:r>
                    </a:p>
                  </a:txBody>
                  <a:tcPr>
                    <a:solidFill>
                      <a:srgbClr val="0F141F"/>
                    </a:solidFill>
                  </a:tcPr>
                </a:tc>
                <a:tc>
                  <a:txBody>
                    <a:bodyPr/>
                    <a:lstStyle/>
                    <a:p>
                      <a:r>
                        <a:rPr sz="1400" b="0">
                          <a:solidFill>
                            <a:srgbClr val="E6EAF2"/>
                          </a:solidFill>
                        </a:rPr>
                        <a:t>—</a:t>
                      </a:r>
                    </a:p>
                  </a:txBody>
                  <a:tcPr>
                    <a:solidFill>
                      <a:srgbClr val="0F141F"/>
                    </a:solidFill>
                  </a:tcPr>
                </a:tc>
                <a:tc>
                  <a:txBody>
                    <a:bodyPr/>
                    <a:lstStyle/>
                    <a:p>
                      <a:r>
                        <a:rPr sz="1400" b="0">
                          <a:solidFill>
                            <a:srgbClr val="E6EAF2"/>
                          </a:solidFill>
                        </a:rPr>
                        <a:t>—</a:t>
                      </a:r>
                    </a:p>
                  </a:txBody>
                  <a:tcPr>
                    <a:solidFill>
                      <a:srgbClr val="0F141F"/>
                    </a:solidFill>
                  </a:tcPr>
                </a:tc>
                <a:tc>
                  <a:txBody>
                    <a:bodyPr/>
                    <a:lstStyle/>
                    <a:p>
                      <a:r>
                        <a:rPr sz="1400" b="0">
                          <a:solidFill>
                            <a:srgbClr val="E6EAF2"/>
                          </a:solidFill>
                        </a:rPr>
                        <a:t>0.99</a:t>
                      </a:r>
                    </a:p>
                  </a:txBody>
                  <a:tcPr>
                    <a:solidFill>
                      <a:srgbClr val="0F141F"/>
                    </a:solidFill>
                  </a:tcPr>
                </a:tc>
                <a:tc>
                  <a:txBody>
                    <a:bodyPr/>
                    <a:lstStyle/>
                    <a:p>
                      <a:r>
                        <a:rPr sz="1400" b="0">
                          <a:solidFill>
                            <a:srgbClr val="E6EAF2"/>
                          </a:solidFill>
                        </a:rPr>
                        <a:t>1 500</a:t>
                      </a:r>
                    </a:p>
                  </a:txBody>
                  <a:tcPr>
                    <a:solidFill>
                      <a:srgbClr val="0F141F"/>
                    </a:solidFill>
                  </a:tcPr>
                </a:tc>
              </a:tr>
            </a:tbl>
          </a:graphicData>
        </a:graphic>
      </p:graphicFrame>
      <p:sp>
        <p:nvSpPr>
          <p:cNvPr id="7" name="TextBox 6"/>
          <p:cNvSpPr txBox="1"/>
          <p:nvPr/>
        </p:nvSpPr>
        <p:spPr>
          <a:xfrm>
            <a:off x="640080" y="4434840"/>
            <a:ext cx="10972800" cy="5029200"/>
          </a:xfrm>
          <a:prstGeom prst="rect">
            <a:avLst/>
          </a:prstGeom>
          <a:noFill/>
        </p:spPr>
        <p:txBody>
          <a:bodyPr wrap="square">
            <a:spAutoFit/>
          </a:bodyPr>
          <a:lstStyle/>
          <a:p>
            <a:pPr>
              <a:spcAft>
                <a:spcPts val="800"/>
              </a:spcAft>
            </a:pPr>
            <a:r>
              <a:rPr sz="1400">
                <a:solidFill>
                  <a:srgbClr val="E6EAF2"/>
                </a:solidFill>
              </a:rPr>
              <a:t>•  Model artefact (1.6 MB joblib) uploaded to s3://chenli-cloud-final-2026/models/anomaly_model.joblib</a:t>
            </a:r>
          </a:p>
          <a:p>
            <a:pPr>
              <a:spcAft>
                <a:spcPts val="800"/>
              </a:spcAft>
            </a:pPr>
            <a:r>
              <a:rPr sz="1400">
                <a:solidFill>
                  <a:srgbClr val="E6EAF2"/>
                </a:solidFill>
              </a:rPr>
              <a:t>•  ml_node.py reads MODEL_S3_URI from .env, downloads at startup via boto3, joblib.load from temp file</a:t>
            </a:r>
          </a:p>
          <a:p>
            <a:pPr>
              <a:spcAft>
                <a:spcPts val="800"/>
              </a:spcAft>
            </a:pPr>
            <a:r>
              <a:rPr sz="1400">
                <a:solidFill>
                  <a:srgbClr val="E6EAF2"/>
                </a:solidFill>
              </a:rPr>
              <a:t>•  Verified at rehearsal: ML node logged 'Found credentials in environment variables' + S3 download</a:t>
            </a:r>
          </a:p>
        </p:txBody>
      </p:sp>
      <p:sp>
        <p:nvSpPr>
          <p:cNvPr id="8" name="TextBox 7"/>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6 / 13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Smart Contract: HealthLog.sol on Sepolia</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371600"/>
            <a:ext cx="7315200" cy="4114800"/>
          </a:xfrm>
          <a:prstGeom prst="rect">
            <a:avLst/>
          </a:prstGeom>
          <a:noFill/>
        </p:spPr>
        <p:txBody>
          <a:bodyPr wrap="none">
            <a:spAutoFit/>
          </a:bodyPr>
          <a:lstStyle/>
          <a:p>
            <a:r>
              <a:rPr sz="1100">
                <a:solidFill>
                  <a:srgbClr val="E6EAF2"/>
                </a:solidFill>
                <a:latin typeface="Consolas"/>
              </a:rPr>
              <a:t>// SPDX-License-Identifier: MIT</a:t>
            </a:r>
          </a:p>
          <a:p>
            <a:r>
              <a:rPr sz="1100">
                <a:solidFill>
                  <a:srgbClr val="E6EAF2"/>
                </a:solidFill>
                <a:latin typeface="Consolas"/>
              </a:rPr>
              <a:t>pragma solidity ^0.8.20;</a:t>
            </a:r>
          </a:p>
          <a:p>
            <a:r>
              <a:rPr sz="1100">
                <a:solidFill>
                  <a:srgbClr val="E6EAF2"/>
                </a:solidFill>
                <a:latin typeface="Consolas"/>
              </a:rPr>
              <a:t/>
            </a:r>
          </a:p>
          <a:p>
            <a:r>
              <a:rPr sz="1100">
                <a:solidFill>
                  <a:srgbClr val="E6EAF2"/>
                </a:solidFill>
                <a:latin typeface="Consolas"/>
              </a:rPr>
              <a:t>contract HealthLog {</a:t>
            </a:r>
          </a:p>
          <a:p>
            <a:r>
              <a:rPr sz="1100">
                <a:solidFill>
                  <a:srgbClr val="E6EAF2"/>
                </a:solidFill>
                <a:latin typeface="Consolas"/>
              </a:rPr>
              <a:t>    struct Entry {</a:t>
            </a:r>
          </a:p>
          <a:p>
            <a:r>
              <a:rPr sz="1100">
                <a:solidFill>
                  <a:srgbClr val="E6EAF2"/>
                </a:solidFill>
                <a:latin typeface="Consolas"/>
              </a:rPr>
              <a:t>        bytes32 eventHash;     // sha256 of the off-chain JSON event</a:t>
            </a:r>
          </a:p>
          <a:p>
            <a:r>
              <a:rPr sz="1100">
                <a:solidFill>
                  <a:srgbClr val="E6EAF2"/>
                </a:solidFill>
                <a:latin typeface="Consolas"/>
              </a:rPr>
              <a:t>        uint256 timestamp;</a:t>
            </a:r>
          </a:p>
          <a:p>
            <a:r>
              <a:rPr sz="1100">
                <a:solidFill>
                  <a:srgbClr val="E6EAF2"/>
                </a:solidFill>
                <a:latin typeface="Consolas"/>
              </a:rPr>
              <a:t>        address reporter;</a:t>
            </a:r>
          </a:p>
          <a:p>
            <a:r>
              <a:rPr sz="1100">
                <a:solidFill>
                  <a:srgbClr val="E6EAF2"/>
                </a:solidFill>
                <a:latin typeface="Consolas"/>
              </a:rPr>
              <a:t>        string  deviceId;</a:t>
            </a:r>
          </a:p>
          <a:p>
            <a:r>
              <a:rPr sz="1100">
                <a:solidFill>
                  <a:srgbClr val="E6EAF2"/>
                </a:solidFill>
                <a:latin typeface="Consolas"/>
              </a:rPr>
              <a:t>        string  anomalyKind;</a:t>
            </a:r>
          </a:p>
          <a:p>
            <a:r>
              <a:rPr sz="1100">
                <a:solidFill>
                  <a:srgbClr val="E6EAF2"/>
                </a:solidFill>
                <a:latin typeface="Consolas"/>
              </a:rPr>
              <a:t>    }</a:t>
            </a:r>
          </a:p>
          <a:p>
            <a:r>
              <a:rPr sz="1100">
                <a:solidFill>
                  <a:srgbClr val="E6EAF2"/>
                </a:solidFill>
                <a:latin typeface="Consolas"/>
              </a:rPr>
              <a:t>    Entry[] public entries;</a:t>
            </a:r>
          </a:p>
          <a:p>
            <a:r>
              <a:rPr sz="1100">
                <a:solidFill>
                  <a:srgbClr val="E6EAF2"/>
                </a:solidFill>
                <a:latin typeface="Consolas"/>
              </a:rPr>
              <a:t>    mapping(bytes32 =&gt; uint256) public indexOfHash;</a:t>
            </a:r>
          </a:p>
          <a:p>
            <a:r>
              <a:rPr sz="1100">
                <a:solidFill>
                  <a:srgbClr val="E6EAF2"/>
                </a:solidFill>
                <a:latin typeface="Consolas"/>
              </a:rPr>
              <a:t>    event AnomalyLogged(bytes32 indexed eventHash, address indexed reporter,</a:t>
            </a:r>
          </a:p>
          <a:p>
            <a:r>
              <a:rPr sz="1100">
                <a:solidFill>
                  <a:srgbClr val="E6EAF2"/>
                </a:solidFill>
                <a:latin typeface="Consolas"/>
              </a:rPr>
              <a:t>                        string deviceId, string anomalyKind, uint256 timestamp);</a:t>
            </a:r>
          </a:p>
          <a:p>
            <a:r>
              <a:rPr sz="1100">
                <a:solidFill>
                  <a:srgbClr val="E6EAF2"/>
                </a:solidFill>
                <a:latin typeface="Consolas"/>
              </a:rPr>
              <a:t/>
            </a:r>
          </a:p>
          <a:p>
            <a:r>
              <a:rPr sz="1100">
                <a:solidFill>
                  <a:srgbClr val="E6EAF2"/>
                </a:solidFill>
                <a:latin typeface="Consolas"/>
              </a:rPr>
              <a:t>    function logAnomaly(bytes32 eventHash, string calldata deviceId,</a:t>
            </a:r>
          </a:p>
          <a:p>
            <a:r>
              <a:rPr sz="1100">
                <a:solidFill>
                  <a:srgbClr val="E6EAF2"/>
                </a:solidFill>
                <a:latin typeface="Consolas"/>
              </a:rPr>
              <a:t>                        string calldata anomalyKind) external returns (uint256 id) {</a:t>
            </a:r>
          </a:p>
          <a:p>
            <a:r>
              <a:rPr sz="1100">
                <a:solidFill>
                  <a:srgbClr val="E6EAF2"/>
                </a:solidFill>
                <a:latin typeface="Consolas"/>
              </a:rPr>
              <a:t>        require(indexOfHash[eventHash] == 0, "duplicate event");</a:t>
            </a:r>
          </a:p>
          <a:p>
            <a:r>
              <a:rPr sz="1100">
                <a:solidFill>
                  <a:srgbClr val="E6EAF2"/>
                </a:solidFill>
                <a:latin typeface="Consolas"/>
              </a:rPr>
              <a:t>        entries.push(Entry({...}));</a:t>
            </a:r>
          </a:p>
          <a:p>
            <a:r>
              <a:rPr sz="1100">
                <a:solidFill>
                  <a:srgbClr val="E6EAF2"/>
                </a:solidFill>
                <a:latin typeface="Consolas"/>
              </a:rPr>
              <a:t>        id = entries.length;</a:t>
            </a:r>
          </a:p>
          <a:p>
            <a:r>
              <a:rPr sz="1100">
                <a:solidFill>
                  <a:srgbClr val="E6EAF2"/>
                </a:solidFill>
                <a:latin typeface="Consolas"/>
              </a:rPr>
              <a:t>        indexOfHash[eventHash] = id;</a:t>
            </a:r>
          </a:p>
          <a:p>
            <a:r>
              <a:rPr sz="1100">
                <a:solidFill>
                  <a:srgbClr val="E6EAF2"/>
                </a:solidFill>
                <a:latin typeface="Consolas"/>
              </a:rPr>
              <a:t>        emit AnomalyLogged(eventHash, msg.sender, deviceId, anomalyKind, block.timestamp);</a:t>
            </a:r>
          </a:p>
          <a:p>
            <a:r>
              <a:rPr sz="1100">
                <a:solidFill>
                  <a:srgbClr val="E6EAF2"/>
                </a:solidFill>
                <a:latin typeface="Consolas"/>
              </a:rPr>
              <a:t>    }</a:t>
            </a:r>
          </a:p>
          <a:p>
            <a:r>
              <a:rPr sz="1100">
                <a:solidFill>
                  <a:srgbClr val="E6EAF2"/>
                </a:solidFill>
                <a:latin typeface="Consolas"/>
              </a:rPr>
              <a:t>}</a:t>
            </a:r>
          </a:p>
        </p:txBody>
      </p:sp>
      <p:sp>
        <p:nvSpPr>
          <p:cNvPr id="6" name="TextBox 5"/>
          <p:cNvSpPr txBox="1"/>
          <p:nvPr/>
        </p:nvSpPr>
        <p:spPr>
          <a:xfrm>
            <a:off x="8138160" y="1463040"/>
            <a:ext cx="3657600" cy="5029200"/>
          </a:xfrm>
          <a:prstGeom prst="rect">
            <a:avLst/>
          </a:prstGeom>
          <a:noFill/>
        </p:spPr>
        <p:txBody>
          <a:bodyPr wrap="square">
            <a:spAutoFit/>
          </a:bodyPr>
          <a:lstStyle/>
          <a:p>
            <a:pPr>
              <a:spcAft>
                <a:spcPts val="800"/>
              </a:spcAft>
            </a:pPr>
            <a:r>
              <a:rPr sz="1200">
                <a:solidFill>
                  <a:srgbClr val="E6EAF2"/>
                </a:solidFill>
              </a:rPr>
              <a:t>•  Deployed: 0x89983910f6AE98Ea081356148B433cA3C6de283B</a:t>
            </a:r>
          </a:p>
          <a:p>
            <a:pPr>
              <a:spcAft>
                <a:spcPts val="800"/>
              </a:spcAft>
            </a:pPr>
            <a:r>
              <a:rPr sz="1200">
                <a:solidFill>
                  <a:srgbClr val="E6EAF2"/>
                </a:solidFill>
              </a:rPr>
              <a:t>•  Optimizer: 200 runs, Solidity 0.8.24</a:t>
            </a:r>
          </a:p>
          <a:p>
            <a:pPr>
              <a:spcAft>
                <a:spcPts val="800"/>
              </a:spcAft>
            </a:pPr>
            <a:r>
              <a:rPr sz="1200">
                <a:solidFill>
                  <a:srgbClr val="E6EAF2"/>
                </a:solidFill>
              </a:rPr>
              <a:t>•  Append-only log + duplicate-rejection</a:t>
            </a:r>
          </a:p>
          <a:p>
            <a:pPr>
              <a:spcAft>
                <a:spcPts val="800"/>
              </a:spcAft>
            </a:pPr>
            <a:r>
              <a:rPr sz="1200">
                <a:solidFill>
                  <a:srgbClr val="E6EAF2"/>
                </a:solidFill>
              </a:rPr>
              <a:t>•  Events indexed on hash + reporter for cheap querying</a:t>
            </a:r>
          </a:p>
          <a:p>
            <a:pPr>
              <a:spcAft>
                <a:spcPts val="800"/>
              </a:spcAft>
            </a:pPr>
            <a:r>
              <a:rPr sz="1200">
                <a:solidFill>
                  <a:srgbClr val="E6EAF2"/>
                </a:solidFill>
              </a:rPr>
              <a:t>•  View funcs: exists(hash), getEntry(id), total()</a:t>
            </a:r>
          </a:p>
        </p:txBody>
      </p:sp>
      <p:sp>
        <p:nvSpPr>
          <p:cNvPr id="7" name="TextBox 6"/>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7 / 13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Why Sepolia (Not Ganache as Originally Proposed)</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500">
                <a:solidFill>
                  <a:srgbClr val="E6EAF2"/>
                </a:solidFill>
              </a:rPr>
              <a:t>•  Midterm proposed Ganache — local in-memory Ethereum simulator</a:t>
            </a:r>
          </a:p>
          <a:p>
            <a:pPr>
              <a:spcAft>
                <a:spcPts val="800"/>
              </a:spcAft>
            </a:pPr>
            <a:r>
              <a:rPr sz="1500">
                <a:solidFill>
                  <a:srgbClr val="E6EAF2"/>
                </a:solidFill>
              </a:rPr>
              <a:t>•  Instructor's 2026-04-16 guidance: "go for a real public chain so the project demonstrates real PaaS use"</a:t>
            </a:r>
          </a:p>
          <a:p>
            <a:pPr>
              <a:spcAft>
                <a:spcPts val="800"/>
              </a:spcAft>
            </a:pPr>
            <a:r>
              <a:rPr sz="1500">
                <a:solidFill>
                  <a:srgbClr val="E6EAF2"/>
                </a:solidFill>
              </a:rPr>
              <a:t>•  Switched to Sepolia public testnet:</a:t>
            </a:r>
          </a:p>
          <a:p>
            <a:pPr lvl="1">
              <a:spcAft>
                <a:spcPts val="800"/>
              </a:spcAft>
            </a:pPr>
            <a:r>
              <a:rPr sz="1300">
                <a:solidFill>
                  <a:srgbClr val="E6EAF2"/>
                </a:solidFill>
              </a:rPr>
              <a:t>–  Real signing, real gas accounting, real block-confirmation latency</a:t>
            </a:r>
          </a:p>
          <a:p>
            <a:pPr lvl="1">
              <a:spcAft>
                <a:spcPts val="800"/>
              </a:spcAft>
            </a:pPr>
            <a:r>
              <a:rPr sz="1300">
                <a:solidFill>
                  <a:srgbClr val="E6EAF2"/>
                </a:solidFill>
              </a:rPr>
              <a:t>–  Public verifiability — Etherscan resolves the contract and every transaction</a:t>
            </a:r>
          </a:p>
          <a:p>
            <a:pPr lvl="1">
              <a:spcAft>
                <a:spcPts val="800"/>
              </a:spcAft>
            </a:pPr>
            <a:r>
              <a:rPr sz="1300">
                <a:solidFill>
                  <a:srgbClr val="E6EAF2"/>
                </a:solidFill>
              </a:rPr>
              <a:t>–  Forced confrontation with real-world frictions (nonce contention, RPC rate limits)</a:t>
            </a:r>
          </a:p>
          <a:p>
            <a:pPr>
              <a:spcAft>
                <a:spcPts val="800"/>
              </a:spcAft>
            </a:pPr>
            <a:r>
              <a:rPr sz="1500">
                <a:solidFill>
                  <a:srgbClr val="E6EAF2"/>
                </a:solidFill>
              </a:rPr>
              <a:t>•  Free Sepolia ETH from sepoliafaucet.com; ~0.000167 ETH per logAnomaly transaction</a:t>
            </a:r>
          </a:p>
          <a:p>
            <a:pPr>
              <a:spcAft>
                <a:spcPts val="800"/>
              </a:spcAft>
            </a:pPr>
            <a:r>
              <a:rPr sz="1500">
                <a:solidFill>
                  <a:srgbClr val="E6EAF2"/>
                </a:solidFill>
              </a:rPr>
              <a:t>•  STRICT UPGRADE relative to midterm proposal — driven by instructor guidance, not scope reduction</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8 / 13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BC Submitter: The Engineering-Heavy Component</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400">
                <a:solidFill>
                  <a:srgbClr val="E6EAF2"/>
                </a:solidFill>
              </a:rPr>
              <a:t>•  On every MSG_ANOMALY:</a:t>
            </a:r>
          </a:p>
          <a:p>
            <a:pPr lvl="1">
              <a:spcAft>
                <a:spcPts val="800"/>
              </a:spcAft>
            </a:pPr>
            <a:r>
              <a:rPr sz="1200">
                <a:solidFill>
                  <a:srgbClr val="E6EAF2"/>
                </a:solidFill>
              </a:rPr>
              <a:t>–  1️⃣  S3Archiver.archive() — PUT raw JSON to s3://&lt;bucket&gt;/anomalies/&lt;hash&gt;.json</a:t>
            </a:r>
          </a:p>
          <a:p>
            <a:pPr lvl="1">
              <a:spcAft>
                <a:spcPts val="800"/>
              </a:spcAft>
            </a:pPr>
            <a:r>
              <a:rPr sz="1200">
                <a:solidFill>
                  <a:srgbClr val="E6EAF2"/>
                </a:solidFill>
              </a:rPr>
              <a:t>–  2️⃣  NonceManager.get_nonce() — asyncio.Lock + cached next_nonce, rollback on failure</a:t>
            </a:r>
          </a:p>
          <a:p>
            <a:pPr lvl="1">
              <a:spcAft>
                <a:spcPts val="800"/>
              </a:spcAft>
            </a:pPr>
            <a:r>
              <a:rPr sz="1200">
                <a:solidFill>
                  <a:srgbClr val="E6EAF2"/>
                </a:solidFill>
              </a:rPr>
              <a:t>–  3️⃣  contract.functions.logAnomaly(hash, deviceId, kind).build_transaction(...)</a:t>
            </a:r>
          </a:p>
          <a:p>
            <a:pPr lvl="1">
              <a:spcAft>
                <a:spcPts val="800"/>
              </a:spcAft>
            </a:pPr>
            <a:r>
              <a:rPr sz="1200">
                <a:solidFill>
                  <a:srgbClr val="E6EAF2"/>
                </a:solidFill>
              </a:rPr>
              <a:t>–  4️⃣  signed=acct.sign_transaction(...); send_raw_transaction; wait_for_receipt(180s)</a:t>
            </a:r>
          </a:p>
          <a:p>
            <a:pPr lvl="1">
              <a:spcAft>
                <a:spcPts val="800"/>
              </a:spcAft>
            </a:pPr>
            <a:r>
              <a:rPr sz="1200">
                <a:solidFill>
                  <a:srgbClr val="E6EAF2"/>
                </a:solidFill>
              </a:rPr>
              <a:t>–  5️⃣  if rcpt.status != 1: raise RuntimeError → no MSG_BC_LOGGED</a:t>
            </a:r>
          </a:p>
          <a:p>
            <a:pPr lvl="1">
              <a:spcAft>
                <a:spcPts val="800"/>
              </a:spcAft>
            </a:pPr>
            <a:r>
              <a:rPr sz="1200">
                <a:solidFill>
                  <a:srgbClr val="E6EAF2"/>
                </a:solidFill>
              </a:rPr>
              <a:t>–  6️⃣  broadcast MSG_BC_LOGGED with tx_hash + block + gas_used + s3_uri</a:t>
            </a:r>
          </a:p>
          <a:p>
            <a:pPr>
              <a:spcAft>
                <a:spcPts val="800"/>
              </a:spcAft>
            </a:pPr>
            <a:r>
              <a:rPr sz="1400">
                <a:solidFill>
                  <a:srgbClr val="E6EAF2"/>
                </a:solidFill>
              </a:rPr>
              <a:t>•  EIP-1559 params: gas=250 000, maxFeePerGas=5 gwei, maxPriorityFeePerGas=1 gwei</a:t>
            </a:r>
          </a:p>
          <a:p>
            <a:pPr>
              <a:spcAft>
                <a:spcPts val="800"/>
              </a:spcAft>
            </a:pPr>
            <a:r>
              <a:rPr sz="1400">
                <a:solidFill>
                  <a:srgbClr val="E6EAF2"/>
                </a:solidFill>
              </a:rPr>
              <a:t>•  S3 archival happens BEFORE chain submission — off-chain object exists when on-chain hash becomes permanent</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9 / 13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Three Engineering Bugs (Real-Chain Frictions)</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300">
                <a:solidFill>
                  <a:srgbClr val="E6EAF2"/>
                </a:solidFill>
              </a:rPr>
              <a:t>•  Nonce collision under concurrent submission</a:t>
            </a:r>
          </a:p>
          <a:p>
            <a:pPr lvl="1">
              <a:spcAft>
                <a:spcPts val="800"/>
              </a:spcAft>
            </a:pPr>
            <a:r>
              <a:rPr sz="1100">
                <a:solidFill>
                  <a:srgbClr val="E6EAF2"/>
                </a:solidFill>
              </a:rPr>
              <a:t>–  Symptom: 2 anomalies arriving within 1s → 2nd tx rejected with 'nonce too low'</a:t>
            </a:r>
          </a:p>
          <a:p>
            <a:pPr lvl="1">
              <a:spcAft>
                <a:spcPts val="800"/>
              </a:spcAft>
            </a:pPr>
            <a:r>
              <a:rPr sz="1100">
                <a:solidFill>
                  <a:srgbClr val="E6EAF2"/>
                </a:solidFill>
              </a:rPr>
              <a:t>–  Diagnosis: parallel coroutines reading same pending nonce from RPC</a:t>
            </a:r>
          </a:p>
          <a:p>
            <a:pPr lvl="1">
              <a:spcAft>
                <a:spcPts val="800"/>
              </a:spcAft>
            </a:pPr>
            <a:r>
              <a:rPr sz="1100">
                <a:solidFill>
                  <a:srgbClr val="E6EAF2"/>
                </a:solidFill>
              </a:rPr>
              <a:t>–  Fix: NonceManager class — asyncio.Lock + locally cached next_nonce + rollback()</a:t>
            </a:r>
          </a:p>
          <a:p>
            <a:pPr>
              <a:spcAft>
                <a:spcPts val="800"/>
              </a:spcAft>
            </a:pPr>
            <a:r>
              <a:rPr sz="1300">
                <a:solidFill>
                  <a:srgbClr val="E6EAF2"/>
                </a:solidFill>
              </a:rPr>
              <a:t>•  Out-of-gas reverts on logAnomaly</a:t>
            </a:r>
          </a:p>
          <a:p>
            <a:pPr lvl="1">
              <a:spcAft>
                <a:spcPts val="800"/>
              </a:spcAft>
            </a:pPr>
            <a:r>
              <a:rPr sz="1100">
                <a:solidFill>
                  <a:srgbClr val="E6EAF2"/>
                </a:solidFill>
              </a:rPr>
              <a:t>–  Symptom: every tx reverting with 'out of gas' even though tx hashes existed on chain</a:t>
            </a:r>
          </a:p>
          <a:p>
            <a:pPr lvl="1">
              <a:spcAft>
                <a:spcPts val="800"/>
              </a:spcAft>
            </a:pPr>
            <a:r>
              <a:rPr sz="1100">
                <a:solidFill>
                  <a:srgbClr val="E6EAF2"/>
                </a:solidFill>
              </a:rPr>
              <a:t>–  Diagnosis: 180k limit too tight (actual cost ~166k); maxFeePerGas at 30 gwei wasted budget</a:t>
            </a:r>
          </a:p>
          <a:p>
            <a:pPr lvl="1">
              <a:spcAft>
                <a:spcPts val="800"/>
              </a:spcAft>
            </a:pPr>
            <a:r>
              <a:rPr sz="1100">
                <a:solidFill>
                  <a:srgbClr val="E6EAF2"/>
                </a:solidFill>
              </a:rPr>
              <a:t>–  Fix: gas → 250k (33% headroom); maxFeePerGas → 5 gwei. Cost dropped 53% (0.000363→0.000167 ETH)</a:t>
            </a:r>
          </a:p>
          <a:p>
            <a:pPr>
              <a:spcAft>
                <a:spcPts val="800"/>
              </a:spcAft>
            </a:pPr>
            <a:r>
              <a:rPr sz="1300">
                <a:solidFill>
                  <a:srgbClr val="E6EAF2"/>
                </a:solidFill>
              </a:rPr>
              <a:t>•  Failed transactions reported as on-chain records</a:t>
            </a:r>
          </a:p>
          <a:p>
            <a:pPr lvl="1">
              <a:spcAft>
                <a:spcPts val="800"/>
              </a:spcAft>
            </a:pPr>
            <a:r>
              <a:rPr sz="1100">
                <a:solidFill>
                  <a:srgbClr val="E6EAF2"/>
                </a:solidFill>
              </a:rPr>
              <a:t>–  Symptom: dashboard showed reverted tx as 'logged on-chain'</a:t>
            </a:r>
          </a:p>
          <a:p>
            <a:pPr lvl="1">
              <a:spcAft>
                <a:spcPts val="800"/>
              </a:spcAft>
            </a:pPr>
            <a:r>
              <a:rPr sz="1100">
                <a:solidFill>
                  <a:srgbClr val="E6EAF2"/>
                </a:solidFill>
              </a:rPr>
              <a:t>–  Fix: explicit `if rcpt.status != 1: raise` before MSG_BC_LOGGED broadcast</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10 / 13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Cloud-Services Rehearsal: 2026-04-26 Numbers</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63040"/>
          <a:ext cx="10972800" cy="4114800"/>
        </p:xfrm>
        <a:graphic>
          <a:graphicData uri="http://schemas.openxmlformats.org/drawingml/2006/table">
            <a:tbl>
              <a:tblPr firstRow="1" bandRow="1">
                <a:tableStyleId>{5C22544A-7EE6-4342-B048-85BDC9FD1C3A}</a:tableStyleId>
              </a:tblPr>
              <a:tblGrid>
                <a:gridCol w="3657600"/>
                <a:gridCol w="3657600"/>
                <a:gridCol w="3657600"/>
              </a:tblGrid>
              <a:tr h="514350">
                <a:tc>
                  <a:txBody>
                    <a:bodyPr/>
                    <a:lstStyle/>
                    <a:p>
                      <a:r>
                        <a:rPr sz="1400" b="1">
                          <a:solidFill>
                            <a:srgbClr val="E6EAF2"/>
                          </a:solidFill>
                        </a:rPr>
                        <a:t>Metric</a:t>
                      </a:r>
                    </a:p>
                  </a:txBody>
                  <a:tcPr>
                    <a:solidFill>
                      <a:srgbClr val="570EA0"/>
                    </a:solidFill>
                  </a:tcPr>
                </a:tc>
                <a:tc>
                  <a:txBody>
                    <a:bodyPr/>
                    <a:lstStyle/>
                    <a:p>
                      <a:r>
                        <a:rPr sz="1400" b="1">
                          <a:solidFill>
                            <a:srgbClr val="E6EAF2"/>
                          </a:solidFill>
                        </a:rPr>
                        <a:t>Result</a:t>
                      </a:r>
                    </a:p>
                  </a:txBody>
                  <a:tcPr>
                    <a:solidFill>
                      <a:srgbClr val="570EA0"/>
                    </a:solidFill>
                  </a:tcPr>
                </a:tc>
                <a:tc>
                  <a:txBody>
                    <a:bodyPr/>
                    <a:lstStyle/>
                    <a:p>
                      <a:r>
                        <a:rPr sz="1400" b="1">
                          <a:solidFill>
                            <a:srgbClr val="E6EAF2"/>
                          </a:solidFill>
                        </a:rPr>
                        <a:t>Notes</a:t>
                      </a:r>
                    </a:p>
                  </a:txBody>
                  <a:tcPr>
                    <a:solidFill>
                      <a:srgbClr val="570EA0"/>
                    </a:solidFill>
                  </a:tcPr>
                </a:tc>
              </a:tr>
              <a:tr h="514350">
                <a:tc>
                  <a:txBody>
                    <a:bodyPr/>
                    <a:lstStyle/>
                    <a:p>
                      <a:r>
                        <a:rPr sz="1400" b="0">
                          <a:solidFill>
                            <a:srgbClr val="E6EAF2"/>
                          </a:solidFill>
                        </a:rPr>
                        <a:t>Azure IoT Hub messages</a:t>
                      </a:r>
                    </a:p>
                  </a:txBody>
                  <a:tcPr>
                    <a:solidFill>
                      <a:srgbClr val="0F141F"/>
                    </a:solidFill>
                  </a:tcPr>
                </a:tc>
                <a:tc>
                  <a:txBody>
                    <a:bodyPr/>
                    <a:lstStyle/>
                    <a:p>
                      <a:r>
                        <a:rPr sz="1400" b="0">
                          <a:solidFill>
                            <a:srgbClr val="E6EAF2"/>
                          </a:solidFill>
                        </a:rPr>
                        <a:t>310</a:t>
                      </a:r>
                    </a:p>
                  </a:txBody>
                  <a:tcPr>
                    <a:solidFill>
                      <a:srgbClr val="0F141F"/>
                    </a:solidFill>
                  </a:tcPr>
                </a:tc>
                <a:tc>
                  <a:txBody>
                    <a:bodyPr/>
                    <a:lstStyle/>
                    <a:p>
                      <a:r>
                        <a:rPr sz="1400" b="0">
                          <a:solidFill>
                            <a:srgbClr val="E6EAF2"/>
                          </a:solidFill>
                        </a:rPr>
                        <a:t>F1 free tier; ~4% of daily 8000 quota</a:t>
                      </a:r>
                    </a:p>
                  </a:txBody>
                  <a:tcPr>
                    <a:solidFill>
                      <a:srgbClr val="0F141F"/>
                    </a:solidFill>
                  </a:tcPr>
                </a:tc>
              </a:tr>
              <a:tr h="514350">
                <a:tc>
                  <a:txBody>
                    <a:bodyPr/>
                    <a:lstStyle/>
                    <a:p>
                      <a:r>
                        <a:rPr sz="1400" b="0">
                          <a:solidFill>
                            <a:srgbClr val="E6EAF2"/>
                          </a:solidFill>
                        </a:rPr>
                        <a:t>S3 anomaly objects</a:t>
                      </a:r>
                    </a:p>
                  </a:txBody>
                  <a:tcPr>
                    <a:solidFill>
                      <a:srgbClr val="0F141F"/>
                    </a:solidFill>
                  </a:tcPr>
                </a:tc>
                <a:tc>
                  <a:txBody>
                    <a:bodyPr/>
                    <a:lstStyle/>
                    <a:p>
                      <a:r>
                        <a:rPr sz="1400" b="0">
                          <a:solidFill>
                            <a:srgbClr val="E6EAF2"/>
                          </a:solidFill>
                        </a:rPr>
                        <a:t>29</a:t>
                      </a:r>
                    </a:p>
                  </a:txBody>
                  <a:tcPr>
                    <a:solidFill>
                      <a:srgbClr val="0F141F"/>
                    </a:solidFill>
                  </a:tcPr>
                </a:tc>
                <a:tc>
                  <a:txBody>
                    <a:bodyPr/>
                    <a:lstStyle/>
                    <a:p>
                      <a:r>
                        <a:rPr sz="1400" b="0">
                          <a:solidFill>
                            <a:srgbClr val="E6EAF2"/>
                          </a:solidFill>
                        </a:rPr>
                        <a:t>6 751 bytes total in s3://chenli-cloud-final-2026/anomalies/</a:t>
                      </a:r>
                    </a:p>
                  </a:txBody>
                  <a:tcPr>
                    <a:solidFill>
                      <a:srgbClr val="0F141F"/>
                    </a:solidFill>
                  </a:tcPr>
                </a:tc>
              </a:tr>
              <a:tr h="514350">
                <a:tc>
                  <a:txBody>
                    <a:bodyPr/>
                    <a:lstStyle/>
                    <a:p>
                      <a:r>
                        <a:rPr sz="1400" b="0">
                          <a:solidFill>
                            <a:srgbClr val="E6EAF2"/>
                          </a:solidFill>
                        </a:rPr>
                        <a:t>Sepolia tx confirmed</a:t>
                      </a:r>
                    </a:p>
                  </a:txBody>
                  <a:tcPr>
                    <a:solidFill>
                      <a:srgbClr val="0F141F"/>
                    </a:solidFill>
                  </a:tcPr>
                </a:tc>
                <a:tc>
                  <a:txBody>
                    <a:bodyPr/>
                    <a:lstStyle/>
                    <a:p>
                      <a:r>
                        <a:rPr sz="1400" b="0">
                          <a:solidFill>
                            <a:srgbClr val="E6EAF2"/>
                          </a:solidFill>
                        </a:rPr>
                        <a:t>18</a:t>
                      </a:r>
                    </a:p>
                  </a:txBody>
                  <a:tcPr>
                    <a:solidFill>
                      <a:srgbClr val="0F141F"/>
                    </a:solidFill>
                  </a:tcPr>
                </a:tc>
                <a:tc>
                  <a:txBody>
                    <a:bodyPr/>
                    <a:lstStyle/>
                    <a:p>
                      <a:r>
                        <a:rPr sz="1400" b="0">
                          <a:solidFill>
                            <a:srgbClr val="E6EAF2"/>
                          </a:solidFill>
                        </a:rPr>
                        <a:t>Blocks 10 739 301 → 10 739 320, all Status: Success</a:t>
                      </a:r>
                    </a:p>
                  </a:txBody>
                  <a:tcPr>
                    <a:solidFill>
                      <a:srgbClr val="0F141F"/>
                    </a:solidFill>
                  </a:tcPr>
                </a:tc>
              </a:tr>
              <a:tr h="514350">
                <a:tc>
                  <a:txBody>
                    <a:bodyPr/>
                    <a:lstStyle/>
                    <a:p>
                      <a:r>
                        <a:rPr sz="1400" b="0">
                          <a:solidFill>
                            <a:srgbClr val="E6EAF2"/>
                          </a:solidFill>
                        </a:rPr>
                        <a:t>Average gas used</a:t>
                      </a:r>
                    </a:p>
                  </a:txBody>
                  <a:tcPr>
                    <a:solidFill>
                      <a:srgbClr val="0F141F"/>
                    </a:solidFill>
                  </a:tcPr>
                </a:tc>
                <a:tc>
                  <a:txBody>
                    <a:bodyPr/>
                    <a:lstStyle/>
                    <a:p>
                      <a:r>
                        <a:rPr sz="1400" b="0">
                          <a:solidFill>
                            <a:srgbClr val="E6EAF2"/>
                          </a:solidFill>
                        </a:rPr>
                        <a:t>~166 k</a:t>
                      </a:r>
                    </a:p>
                  </a:txBody>
                  <a:tcPr>
                    <a:solidFill>
                      <a:srgbClr val="0F141F"/>
                    </a:solidFill>
                  </a:tcPr>
                </a:tc>
                <a:tc>
                  <a:txBody>
                    <a:bodyPr/>
                    <a:lstStyle/>
                    <a:p>
                      <a:r>
                        <a:rPr sz="1400" b="0">
                          <a:solidFill>
                            <a:srgbClr val="E6EAF2"/>
                          </a:solidFill>
                        </a:rPr>
                        <a:t>33% headroom under 250 k limit</a:t>
                      </a:r>
                    </a:p>
                  </a:txBody>
                  <a:tcPr>
                    <a:solidFill>
                      <a:srgbClr val="0F141F"/>
                    </a:solidFill>
                  </a:tcPr>
                </a:tc>
              </a:tr>
              <a:tr h="514350">
                <a:tc>
                  <a:txBody>
                    <a:bodyPr/>
                    <a:lstStyle/>
                    <a:p>
                      <a:r>
                        <a:rPr sz="1400" b="0">
                          <a:solidFill>
                            <a:srgbClr val="E6EAF2"/>
                          </a:solidFill>
                        </a:rPr>
                        <a:t>Cost per tx</a:t>
                      </a:r>
                    </a:p>
                  </a:txBody>
                  <a:tcPr>
                    <a:solidFill>
                      <a:srgbClr val="0F141F"/>
                    </a:solidFill>
                  </a:tcPr>
                </a:tc>
                <a:tc>
                  <a:txBody>
                    <a:bodyPr/>
                    <a:lstStyle/>
                    <a:p>
                      <a:r>
                        <a:rPr sz="1400" b="0">
                          <a:solidFill>
                            <a:srgbClr val="E6EAF2"/>
                          </a:solidFill>
                        </a:rPr>
                        <a:t>~0.000167 ETH</a:t>
                      </a:r>
                    </a:p>
                  </a:txBody>
                  <a:tcPr>
                    <a:solidFill>
                      <a:srgbClr val="0F141F"/>
                    </a:solidFill>
                  </a:tcPr>
                </a:tc>
                <a:tc>
                  <a:txBody>
                    <a:bodyPr/>
                    <a:lstStyle/>
                    <a:p>
                      <a:r>
                        <a:rPr sz="1400" b="0">
                          <a:solidFill>
                            <a:srgbClr val="E6EAF2"/>
                          </a:solidFill>
                        </a:rPr>
                        <a:t>Sepolia base fee 1–2 gwei</a:t>
                      </a:r>
                    </a:p>
                  </a:txBody>
                  <a:tcPr>
                    <a:solidFill>
                      <a:srgbClr val="0F141F"/>
                    </a:solidFill>
                  </a:tcPr>
                </a:tc>
              </a:tr>
              <a:tr h="514350">
                <a:tc>
                  <a:txBody>
                    <a:bodyPr/>
                    <a:lstStyle/>
                    <a:p>
                      <a:r>
                        <a:rPr sz="1400" b="0">
                          <a:solidFill>
                            <a:srgbClr val="E6EAF2"/>
                          </a:solidFill>
                        </a:rPr>
                        <a:t>Total wallet spend</a:t>
                      </a:r>
                    </a:p>
                  </a:txBody>
                  <a:tcPr>
                    <a:solidFill>
                      <a:srgbClr val="0F141F"/>
                    </a:solidFill>
                  </a:tcPr>
                </a:tc>
                <a:tc>
                  <a:txBody>
                    <a:bodyPr/>
                    <a:lstStyle/>
                    <a:p>
                      <a:r>
                        <a:rPr sz="1400" b="0">
                          <a:solidFill>
                            <a:srgbClr val="E6EAF2"/>
                          </a:solidFill>
                        </a:rPr>
                        <a:t>~0.003 ETH</a:t>
                      </a:r>
                    </a:p>
                  </a:txBody>
                  <a:tcPr>
                    <a:solidFill>
                      <a:srgbClr val="0F141F"/>
                    </a:solidFill>
                  </a:tcPr>
                </a:tc>
                <a:tc>
                  <a:txBody>
                    <a:bodyPr/>
                    <a:lstStyle/>
                    <a:p>
                      <a:r>
                        <a:rPr sz="1400" b="0">
                          <a:solidFill>
                            <a:srgbClr val="E6EAF2"/>
                          </a:solidFill>
                        </a:rPr>
                        <a:t>Free Sepolia ETH; effectively $0 in real money</a:t>
                      </a:r>
                    </a:p>
                  </a:txBody>
                  <a:tcPr>
                    <a:solidFill>
                      <a:srgbClr val="0F141F"/>
                    </a:solidFill>
                  </a:tcPr>
                </a:tc>
              </a:tr>
              <a:tr h="514350">
                <a:tc>
                  <a:txBody>
                    <a:bodyPr/>
                    <a:lstStyle/>
                    <a:p>
                      <a:r>
                        <a:rPr sz="1400" b="0">
                          <a:solidFill>
                            <a:srgbClr val="E6EAF2"/>
                          </a:solidFill>
                        </a:rPr>
                        <a:t>End-to-end click time</a:t>
                      </a:r>
                    </a:p>
                  </a:txBody>
                  <a:tcPr>
                    <a:solidFill>
                      <a:srgbClr val="0F141F"/>
                    </a:solidFill>
                  </a:tcPr>
                </a:tc>
                <a:tc>
                  <a:txBody>
                    <a:bodyPr/>
                    <a:lstStyle/>
                    <a:p>
                      <a:r>
                        <a:rPr sz="1400" b="0">
                          <a:solidFill>
                            <a:srgbClr val="E6EAF2"/>
                          </a:solidFill>
                        </a:rPr>
                        <a:t>~12 s</a:t>
                      </a:r>
                    </a:p>
                  </a:txBody>
                  <a:tcPr>
                    <a:solidFill>
                      <a:srgbClr val="0F141F"/>
                    </a:solidFill>
                  </a:tcPr>
                </a:tc>
                <a:tc>
                  <a:txBody>
                    <a:bodyPr/>
                    <a:lstStyle/>
                    <a:p>
                      <a:r>
                        <a:rPr sz="1400" b="0">
                          <a:solidFill>
                            <a:srgbClr val="E6EAF2"/>
                          </a:solidFill>
                        </a:rPr>
                        <a:t>Dominated by single Sepolia block (11–13 s)</a:t>
                      </a:r>
                    </a:p>
                  </a:txBody>
                  <a:tcPr>
                    <a:solidFill>
                      <a:srgbClr val="0F141F"/>
                    </a:solidFill>
                  </a:tcPr>
                </a:tc>
              </a:tr>
            </a:tbl>
          </a:graphicData>
        </a:graphic>
      </p:graphicFrame>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11 / 13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Audit-Chain Verification: The Killer Property</a:t>
            </a:r>
          </a:p>
        </p:txBody>
      </p:sp>
      <p:sp>
        <p:nvSpPr>
          <p:cNvPr id="4" name="TextBox 3"/>
          <p:cNvSpPr txBox="1"/>
          <p:nvPr/>
        </p:nvSpPr>
        <p:spPr>
          <a:xfrm>
            <a:off x="548640" y="1005840"/>
            <a:ext cx="10972800" cy="457200"/>
          </a:xfrm>
          <a:prstGeom prst="rect">
            <a:avLst/>
          </a:prstGeom>
          <a:noFill/>
        </p:spPr>
        <p:txBody>
          <a:bodyPr wrap="none">
            <a:spAutoFit/>
          </a:bodyPr>
          <a:lstStyle/>
          <a:p>
            <a:r>
              <a:rPr sz="1800" i="1">
                <a:solidFill>
                  <a:srgbClr val="8B95AB"/>
                </a:solidFill>
              </a:rPr>
              <a:t>Pull S3 → recompute SHA-256 → matches on-chain hash exactly</a:t>
            </a:r>
          </a:p>
        </p:txBody>
      </p:sp>
      <p:sp>
        <p:nvSpPr>
          <p:cNvPr id="5" name="Rectangle 4"/>
          <p:cNvSpPr/>
          <p:nvPr/>
        </p:nvSpPr>
        <p:spPr>
          <a:xfrm>
            <a:off x="548640" y="14173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783080"/>
            <a:ext cx="10972800" cy="4389120"/>
          </a:xfrm>
          <a:prstGeom prst="rect">
            <a:avLst/>
          </a:prstGeom>
          <a:noFill/>
        </p:spPr>
        <p:txBody>
          <a:bodyPr wrap="none">
            <a:spAutoFit/>
          </a:bodyPr>
          <a:lstStyle/>
          <a:p>
            <a:r>
              <a:rPr sz="1300" b="1">
                <a:solidFill>
                  <a:srgbClr val="6AA6FF"/>
                </a:solidFill>
                <a:latin typeface="Consolas"/>
              </a:rPr>
              <a:t>1) Etherscan: tx 0xe1ebf113… block 10 739 301 → contract entry recorded</a:t>
            </a:r>
          </a:p>
          <a:p>
            <a:r>
              <a:rPr sz="1300">
                <a:solidFill>
                  <a:srgbClr val="E6EAF2"/>
                </a:solidFill>
                <a:latin typeface="Consolas"/>
              </a:rPr>
              <a:t>        eventHash = 0x303d3f2164f169f024de0e34ec6438ba5c76da827111e1f3bc8e7cce0bad113a</a:t>
            </a:r>
          </a:p>
          <a:p>
            <a:r>
              <a:rPr sz="1300">
                <a:solidFill>
                  <a:srgbClr val="E6EAF2"/>
                </a:solidFill>
                <a:latin typeface="Consolas"/>
              </a:rPr>
              <a:t/>
            </a:r>
          </a:p>
          <a:p>
            <a:r>
              <a:rPr sz="1300" b="1">
                <a:solidFill>
                  <a:srgbClr val="6AA6FF"/>
                </a:solidFill>
                <a:latin typeface="Consolas"/>
              </a:rPr>
              <a:t>2) S3 GET object:</a:t>
            </a:r>
          </a:p>
          <a:p>
            <a:r>
              <a:rPr sz="1300">
                <a:solidFill>
                  <a:srgbClr val="E6EAF2"/>
                </a:solidFill>
                <a:latin typeface="Consolas"/>
              </a:rPr>
              <a:t>   s3://chenli-cloud-final-2026/anomalies/303d3f2164f169...0bad113a.json</a:t>
            </a:r>
          </a:p>
          <a:p>
            <a:r>
              <a:rPr sz="1300">
                <a:solidFill>
                  <a:srgbClr val="E6EAF2"/>
                </a:solidFill>
                <a:latin typeface="Consolas"/>
              </a:rPr>
              <a:t>   →  {"body_temp":37.37,"device_id":"sim-device-001",</a:t>
            </a:r>
          </a:p>
          <a:p>
            <a:r>
              <a:rPr sz="1300">
                <a:solidFill>
                  <a:srgbClr val="E6EAF2"/>
                </a:solidFill>
                <a:latin typeface="Consolas"/>
              </a:rPr>
              <a:t>       "hash":"0x303d3f2164f169...0bad113a",</a:t>
            </a:r>
          </a:p>
          <a:p>
            <a:r>
              <a:rPr sz="1300">
                <a:solidFill>
                  <a:srgbClr val="E6EAF2"/>
                </a:solidFill>
                <a:latin typeface="Consolas"/>
              </a:rPr>
              <a:t>       "heart_rate":86.0,"score":-0.1829,</a:t>
            </a:r>
          </a:p>
          <a:p>
            <a:r>
              <a:rPr sz="1300">
                <a:solidFill>
                  <a:srgbClr val="E6EAF2"/>
                </a:solidFill>
                <a:latin typeface="Consolas"/>
              </a:rPr>
              <a:t>       "source_iot_node":"iot-sim-device-001",</a:t>
            </a:r>
          </a:p>
          <a:p>
            <a:r>
              <a:rPr sz="1300">
                <a:solidFill>
                  <a:srgbClr val="E6EAF2"/>
                </a:solidFill>
                <a:latin typeface="Consolas"/>
              </a:rPr>
              <a:t>       "spo2":84.0,"ts":1777249871.0598843}</a:t>
            </a:r>
          </a:p>
          <a:p>
            <a:r>
              <a:rPr sz="1300">
                <a:solidFill>
                  <a:srgbClr val="E6EAF2"/>
                </a:solidFill>
                <a:latin typeface="Consolas"/>
              </a:rPr>
              <a:t/>
            </a:r>
          </a:p>
          <a:p>
            <a:r>
              <a:rPr sz="1300" b="1">
                <a:solidFill>
                  <a:srgbClr val="6AA6FF"/>
                </a:solidFill>
                <a:latin typeface="Consolas"/>
              </a:rPr>
              <a:t>3) Recompute:  sha256(canonical_json(payload_without_hash))</a:t>
            </a:r>
          </a:p>
          <a:p>
            <a:r>
              <a:rPr sz="1300">
                <a:solidFill>
                  <a:srgbClr val="E6EAF2"/>
                </a:solidFill>
                <a:latin typeface="Consolas"/>
              </a:rPr>
              <a:t>   = 0x303d3f2164f169f024de0e34ec6438ba5c76da827111e1f3bc8e7cce0bad113a</a:t>
            </a:r>
          </a:p>
          <a:p>
            <a:r>
              <a:rPr sz="1300">
                <a:solidFill>
                  <a:srgbClr val="E6EAF2"/>
                </a:solidFill>
                <a:latin typeface="Consolas"/>
              </a:rPr>
              <a:t/>
            </a:r>
          </a:p>
          <a:p>
            <a:r>
              <a:rPr sz="1300" b="1">
                <a:solidFill>
                  <a:srgbClr val="4EC96F"/>
                </a:solidFill>
                <a:latin typeface="Consolas"/>
              </a:rPr>
              <a:t>✅  MATCHES on-chain hash exactly.</a:t>
            </a:r>
          </a:p>
          <a:p>
            <a:r>
              <a:rPr sz="1300">
                <a:solidFill>
                  <a:srgbClr val="E6EAF2"/>
                </a:solidFill>
                <a:latin typeface="Consolas"/>
              </a:rPr>
              <a:t>   If any byte of the S3 object had been altered, the hashes would diverge.</a:t>
            </a:r>
          </a:p>
          <a:p>
            <a:r>
              <a:rPr sz="1300">
                <a:solidFill>
                  <a:srgbClr val="E6EAF2"/>
                </a:solidFill>
                <a:latin typeface="Consolas"/>
              </a:rPr>
              <a:t>   This is the concrete, runnable form of the tamper-evident guarantee.</a:t>
            </a:r>
          </a:p>
        </p:txBody>
      </p:sp>
      <p:sp>
        <p:nvSpPr>
          <p:cNvPr id="7" name="TextBox 6"/>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12 / 13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Addressing Midterm Feedback</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400">
                <a:solidFill>
                  <a:srgbClr val="E6EAF2"/>
                </a:solidFill>
              </a:rPr>
              <a:t>•  Bootstrap SPOF was the only specific concern raised at midterm</a:t>
            </a:r>
          </a:p>
          <a:p>
            <a:pPr>
              <a:spcAft>
                <a:spcPts val="800"/>
              </a:spcAft>
            </a:pPr>
            <a:r>
              <a:rPr sz="1400">
                <a:solidFill>
                  <a:srgbClr val="E6EAF2"/>
                </a:solidFill>
              </a:rPr>
              <a:t>•  Three layered reasons it's not a SPOF as delivered:</a:t>
            </a:r>
          </a:p>
          <a:p>
            <a:pPr lvl="1">
              <a:spcAft>
                <a:spcPts val="800"/>
              </a:spcAft>
            </a:pPr>
            <a:r>
              <a:rPr sz="1200">
                <a:solidFill>
                  <a:srgbClr val="E6EAF2"/>
                </a:solidFill>
              </a:rPr>
              <a:t>–  (i) Bootstrap is OFF the data path — sensors/anomalies/tx flow over direct peer connections after join (~200 ms)</a:t>
            </a:r>
          </a:p>
          <a:p>
            <a:pPr lvl="1">
              <a:spcAft>
                <a:spcPts val="800"/>
              </a:spcAft>
            </a:pPr>
            <a:r>
              <a:rPr sz="1200">
                <a:solidFill>
                  <a:srgbClr val="E6EAF2"/>
                </a:solidFill>
              </a:rPr>
              <a:t>–  (ii) ANY peer answers MSG_HELLO with MSG_PEERS — not just the role=bootstrap node</a:t>
            </a:r>
          </a:p>
          <a:p>
            <a:pPr lvl="1">
              <a:spcAft>
                <a:spcPts val="800"/>
              </a:spcAft>
            </a:pPr>
            <a:r>
              <a:rPr sz="1200">
                <a:solidFill>
                  <a:srgbClr val="E6EAF2"/>
                </a:solidFill>
              </a:rPr>
              <a:t>–  (iii) Multiple bootstraps can run concurrently (similar to Ethereum bootnodes / IPFS)</a:t>
            </a:r>
          </a:p>
          <a:p>
            <a:pPr>
              <a:spcAft>
                <a:spcPts val="800"/>
              </a:spcAft>
            </a:pPr>
            <a:r>
              <a:rPr sz="1400">
                <a:solidFill>
                  <a:srgbClr val="E6EAF2"/>
                </a:solidFill>
              </a:rPr>
              <a:t>•  Documented in §6.6 of report; demonstrable in live demo by killing the bootstrap process</a:t>
            </a:r>
          </a:p>
          <a:p>
            <a:pPr>
              <a:spcAft>
                <a:spcPts val="800"/>
              </a:spcAft>
            </a:pPr>
            <a:r>
              <a:rPr sz="1400">
                <a:solidFill>
                  <a:srgbClr val="E6EAF2"/>
                </a:solidFill>
              </a:rPr>
              <a:t>•  </a:t>
            </a:r>
          </a:p>
          <a:p>
            <a:pPr>
              <a:spcAft>
                <a:spcPts val="800"/>
              </a:spcAft>
            </a:pPr>
            <a:r>
              <a:rPr sz="1400">
                <a:solidFill>
                  <a:srgbClr val="E6EAF2"/>
                </a:solidFill>
              </a:rPr>
              <a:t>•  Other deltas vs midterm proposal — all upgrades or explicitly disclosed:</a:t>
            </a:r>
          </a:p>
          <a:p>
            <a:pPr lvl="1">
              <a:spcAft>
                <a:spcPts val="800"/>
              </a:spcAft>
            </a:pPr>
            <a:r>
              <a:rPr sz="1200">
                <a:solidFill>
                  <a:srgbClr val="E6EAF2"/>
                </a:solidFill>
              </a:rPr>
              <a:t>–  Ganache → Sepolia public chain (instructor 4/16 guidance)</a:t>
            </a:r>
          </a:p>
          <a:p>
            <a:pPr lvl="1">
              <a:spcAft>
                <a:spcPts val="800"/>
              </a:spcAft>
            </a:pPr>
            <a:r>
              <a:rPr sz="1200">
                <a:solidFill>
                  <a:srgbClr val="E6EAF2"/>
                </a:solidFill>
              </a:rPr>
              <a:t>–  BTP/libp2p → equivalent custom overlay (upstream library readiness)</a:t>
            </a:r>
          </a:p>
          <a:p>
            <a:pPr lvl="1">
              <a:spcAft>
                <a:spcPts val="800"/>
              </a:spcAft>
            </a:pPr>
            <a:r>
              <a:rPr sz="1200">
                <a:solidFill>
                  <a:srgbClr val="E6EAF2"/>
                </a:solidFill>
              </a:rPr>
              <a:t>–  S3 expanded to off-chain audit store (was promised; delivered with tamper-evident verification)</a:t>
            </a:r>
          </a:p>
          <a:p>
            <a:pPr lvl="1">
              <a:spcAft>
                <a:spcPts val="800"/>
              </a:spcAft>
            </a:pPr>
            <a:r>
              <a:rPr sz="1200">
                <a:solidFill>
                  <a:srgbClr val="E6EAF2"/>
                </a:solidFill>
              </a:rPr>
              <a:t>–  Azure IoT Hub: actively engaged (was promised; delivered)</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Part 2 — slide 13 / 13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4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972800" cy="822960"/>
          </a:xfrm>
          <a:prstGeom prst="rect">
            <a:avLst/>
          </a:prstGeom>
          <a:noFill/>
        </p:spPr>
        <p:txBody>
          <a:bodyPr wrap="square">
            <a:spAutoFit/>
          </a:bodyPr>
          <a:lstStyle/>
          <a:p>
            <a:r>
              <a:rPr sz="3200" b="1">
                <a:solidFill>
                  <a:srgbClr val="E6EAF2"/>
                </a:solidFill>
              </a:rPr>
              <a:t>Conclusion + Q&amp;A</a:t>
            </a:r>
          </a:p>
        </p:txBody>
      </p:sp>
      <p:sp>
        <p:nvSpPr>
          <p:cNvPr id="4" name="Rectangle 3"/>
          <p:cNvSpPr/>
          <p:nvPr/>
        </p:nvSpPr>
        <p:spPr>
          <a:xfrm>
            <a:off x="548640" y="960120"/>
            <a:ext cx="2286000" cy="54864"/>
          </a:xfrm>
          <a:prstGeom prst="rect">
            <a:avLst/>
          </a:prstGeom>
          <a:solidFill>
            <a:srgbClr val="6AA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972800" cy="5029200"/>
          </a:xfrm>
          <a:prstGeom prst="rect">
            <a:avLst/>
          </a:prstGeom>
          <a:noFill/>
        </p:spPr>
        <p:txBody>
          <a:bodyPr wrap="square">
            <a:spAutoFit/>
          </a:bodyPr>
          <a:lstStyle/>
          <a:p>
            <a:pPr>
              <a:spcAft>
                <a:spcPts val="800"/>
              </a:spcAft>
            </a:pPr>
            <a:r>
              <a:rPr sz="1500">
                <a:solidFill>
                  <a:srgbClr val="E6EAF2"/>
                </a:solidFill>
              </a:rPr>
              <a:t>•  Part 1: ArchNav legacy app migrated cloud-based to AWS EC2 via Docker — zero source-code changes</a:t>
            </a:r>
          </a:p>
          <a:p>
            <a:pPr>
              <a:spcAft>
                <a:spcPts val="800"/>
              </a:spcAft>
            </a:pPr>
            <a:r>
              <a:rPr sz="1500">
                <a:solidFill>
                  <a:srgbClr val="E6EAF2"/>
                </a:solidFill>
              </a:rPr>
              <a:t>•  Part 2: Decentralized health monitoring system, hybrid Web2 + Web3, 3 active clouds</a:t>
            </a:r>
          </a:p>
          <a:p>
            <a:pPr>
              <a:spcAft>
                <a:spcPts val="800"/>
              </a:spcAft>
            </a:pPr>
            <a:r>
              <a:rPr sz="1500">
                <a:solidFill>
                  <a:srgbClr val="E6EAF2"/>
                </a:solidFill>
              </a:rPr>
              <a:t>•  All five Part-2 design goals (G1-G5) met and demonstrated end-to-end</a:t>
            </a:r>
          </a:p>
          <a:p>
            <a:pPr>
              <a:spcAft>
                <a:spcPts val="800"/>
              </a:spcAft>
            </a:pPr>
            <a:r>
              <a:rPr sz="1500">
                <a:solidFill>
                  <a:srgbClr val="E6EAF2"/>
                </a:solidFill>
              </a:rPr>
              <a:t>•  Real evidence: 310 Azure messages + 29 S3 anomaly archives + 18 confirmed Sepolia transactions + cryptographic audit-chain verification</a:t>
            </a:r>
          </a:p>
          <a:p>
            <a:pPr>
              <a:spcAft>
                <a:spcPts val="800"/>
              </a:spcAft>
            </a:pPr>
            <a:r>
              <a:rPr sz="1500">
                <a:solidFill>
                  <a:srgbClr val="E6EAF2"/>
                </a:solidFill>
              </a:rPr>
              <a:t>•  Engineering integrity: every midterm deviation explicitly disclosed in §6.7 of the final report</a:t>
            </a:r>
          </a:p>
          <a:p>
            <a:pPr>
              <a:spcAft>
                <a:spcPts val="800"/>
              </a:spcAft>
            </a:pPr>
            <a:r>
              <a:rPr sz="1500">
                <a:solidFill>
                  <a:srgbClr val="E6EAF2"/>
                </a:solidFill>
              </a:rPr>
              <a:t>•  </a:t>
            </a:r>
          </a:p>
          <a:p>
            <a:pPr>
              <a:spcAft>
                <a:spcPts val="800"/>
              </a:spcAft>
            </a:pPr>
            <a:r>
              <a:rPr sz="1500">
                <a:solidFill>
                  <a:srgbClr val="E6EAF2"/>
                </a:solidFill>
              </a:rPr>
              <a:t>•  Repository:  github.com/chenli0322/cloud-computing-project (private)</a:t>
            </a:r>
          </a:p>
          <a:p>
            <a:pPr>
              <a:spcAft>
                <a:spcPts val="800"/>
              </a:spcAft>
            </a:pPr>
            <a:r>
              <a:rPr sz="1500">
                <a:solidFill>
                  <a:srgbClr val="E6EAF2"/>
                </a:solidFill>
              </a:rPr>
              <a:t>•  Final report:  part2-health-monitor/docs/final_report.md (~470 lines, 7 sections, 13 references)</a:t>
            </a:r>
          </a:p>
          <a:p>
            <a:pPr>
              <a:spcAft>
                <a:spcPts val="800"/>
              </a:spcAft>
            </a:pPr>
            <a:r>
              <a:rPr sz="1500">
                <a:solidFill>
                  <a:srgbClr val="E6EAF2"/>
                </a:solidFill>
              </a:rPr>
              <a:t>•  </a:t>
            </a:r>
          </a:p>
          <a:p>
            <a:pPr>
              <a:spcAft>
                <a:spcPts val="800"/>
              </a:spcAft>
            </a:pPr>
            <a:r>
              <a:rPr sz="1500">
                <a:solidFill>
                  <a:srgbClr val="E6EAF2"/>
                </a:solidFill>
              </a:rPr>
              <a:t>•  Thank you — Questions?</a:t>
            </a:r>
          </a:p>
        </p:txBody>
      </p:sp>
      <p:sp>
        <p:nvSpPr>
          <p:cNvPr id="6" name="TextBox 5"/>
          <p:cNvSpPr txBox="1"/>
          <p:nvPr/>
        </p:nvSpPr>
        <p:spPr>
          <a:xfrm>
            <a:off x="548640" y="6446520"/>
            <a:ext cx="10972800" cy="274320"/>
          </a:xfrm>
          <a:prstGeom prst="rect">
            <a:avLst/>
          </a:prstGeom>
          <a:noFill/>
        </p:spPr>
        <p:txBody>
          <a:bodyPr wrap="none">
            <a:spAutoFit/>
          </a:bodyPr>
          <a:lstStyle/>
          <a:p>
            <a:r>
              <a:rPr sz="1000">
                <a:solidFill>
                  <a:srgbClr val="8B95AB"/>
                </a:solidFill>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